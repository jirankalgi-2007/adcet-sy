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7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7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1257" y="4877075"/>
            <a:ext cx="1007714" cy="1908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0" y="-1"/>
            <a:ext cx="342900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1257" y="4877075"/>
            <a:ext cx="1007714" cy="1908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246" y="4594808"/>
            <a:ext cx="2857754" cy="5486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61257" y="4877075"/>
            <a:ext cx="1007714" cy="1908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514" y="442975"/>
            <a:ext cx="3723640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13123" y="2006574"/>
            <a:ext cx="4645025" cy="1590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7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-1"/>
            <a:ext cx="3429000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1581" y="616076"/>
            <a:ext cx="3448050" cy="88074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3429"/>
              </a:lnSpc>
              <a:spcBef>
                <a:spcPts val="70"/>
              </a:spcBef>
            </a:pPr>
            <a:r>
              <a:rPr sz="2750" spc="-130" dirty="0"/>
              <a:t>Engineering</a:t>
            </a:r>
            <a:r>
              <a:rPr sz="2750" spc="-225" dirty="0"/>
              <a:t> </a:t>
            </a:r>
            <a:r>
              <a:rPr sz="2750" spc="-85" dirty="0"/>
              <a:t>Ethics</a:t>
            </a:r>
            <a:r>
              <a:rPr sz="2750" spc="-235" dirty="0"/>
              <a:t> </a:t>
            </a:r>
            <a:r>
              <a:rPr sz="2750" spc="175" dirty="0"/>
              <a:t>— </a:t>
            </a:r>
            <a:r>
              <a:rPr sz="2750" spc="-100" dirty="0"/>
              <a:t>Professional</a:t>
            </a:r>
            <a:r>
              <a:rPr sz="2750" spc="-185" dirty="0"/>
              <a:t> </a:t>
            </a:r>
            <a:r>
              <a:rPr sz="2750" spc="-20" dirty="0"/>
              <a:t>Life</a:t>
            </a:r>
            <a:endParaRPr sz="2750"/>
          </a:p>
        </p:txBody>
      </p:sp>
      <p:sp>
        <p:nvSpPr>
          <p:cNvPr id="4" name="object 4"/>
          <p:cNvSpPr txBox="1"/>
          <p:nvPr/>
        </p:nvSpPr>
        <p:spPr>
          <a:xfrm>
            <a:off x="411581" y="1689862"/>
            <a:ext cx="9074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Presented</a:t>
            </a:r>
            <a:r>
              <a:rPr sz="1100" spc="8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Tahoma"/>
                <a:cs typeface="Tahoma"/>
              </a:rPr>
              <a:t>by: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869647"/>
              </p:ext>
            </p:extLst>
          </p:nvPr>
        </p:nvGraphicFramePr>
        <p:xfrm>
          <a:off x="489762" y="1945513"/>
          <a:ext cx="4878070" cy="1340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Sr.no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Roll.no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100" dirty="0">
                          <a:latin typeface="Calibri"/>
                          <a:cs typeface="Calibri"/>
                        </a:rPr>
                        <a:t>Rahul </a:t>
                      </a:r>
                      <a:r>
                        <a:rPr lang="en-US" sz="1100" dirty="0" err="1">
                          <a:latin typeface="Calibri"/>
                          <a:cs typeface="Calibri"/>
                        </a:rPr>
                        <a:t>Bhimanna</a:t>
                      </a:r>
                      <a:r>
                        <a:rPr lang="en-US" sz="1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100" dirty="0" err="1">
                          <a:latin typeface="Calibri"/>
                          <a:cs typeface="Calibri"/>
                        </a:rPr>
                        <a:t>Jirankalgi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lang="en-US" sz="1100" spc="-20" dirty="0">
                          <a:latin typeface="Calibri"/>
                          <a:cs typeface="Calibri"/>
                        </a:rPr>
                        <a:t>75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100" dirty="0">
                          <a:latin typeface="Calibri"/>
                          <a:cs typeface="Calibri"/>
                        </a:rPr>
                        <a:t>Riya </a:t>
                      </a:r>
                      <a:r>
                        <a:rPr lang="en-US" sz="1100" dirty="0" err="1">
                          <a:latin typeface="Calibri"/>
                          <a:cs typeface="Calibri"/>
                        </a:rPr>
                        <a:t>Hanmant</a:t>
                      </a:r>
                      <a:r>
                        <a:rPr lang="en-US" sz="1100" dirty="0">
                          <a:latin typeface="Calibri"/>
                          <a:cs typeface="Calibri"/>
                        </a:rPr>
                        <a:t> Pawar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lang="en-US" sz="1100" spc="-20" dirty="0">
                          <a:latin typeface="Calibri"/>
                          <a:cs typeface="Calibri"/>
                        </a:rPr>
                        <a:t>76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100" dirty="0">
                          <a:latin typeface="Calibri"/>
                          <a:cs typeface="Calibri"/>
                        </a:rPr>
                        <a:t>Dhanashree Prashant </a:t>
                      </a:r>
                      <a:r>
                        <a:rPr lang="en-US" sz="1100" dirty="0" err="1">
                          <a:latin typeface="Calibri"/>
                          <a:cs typeface="Calibri"/>
                        </a:rPr>
                        <a:t>Raskar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20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lang="en-US" sz="1100" dirty="0">
                          <a:latin typeface="Calibri"/>
                          <a:cs typeface="Calibri"/>
                        </a:rPr>
                        <a:t>ravin Pramod Gaikwad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lang="en-US" sz="1100" spc="-20" dirty="0">
                          <a:latin typeface="Calibri"/>
                          <a:cs typeface="Calibri"/>
                        </a:rPr>
                        <a:t>81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61594" y="3521202"/>
            <a:ext cx="4025265" cy="68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Course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Name:</a:t>
            </a:r>
            <a:r>
              <a:rPr sz="11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Universal</a:t>
            </a:r>
            <a:r>
              <a:rPr sz="11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Human</a:t>
            </a:r>
            <a:r>
              <a:rPr sz="11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Values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32900"/>
              </a:lnSpc>
              <a:spcBef>
                <a:spcPts val="355"/>
              </a:spcBef>
            </a:pP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College</a:t>
            </a:r>
            <a:r>
              <a:rPr sz="110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Name:</a:t>
            </a:r>
            <a:r>
              <a:rPr sz="110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Annasaheb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Dange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College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of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Engineering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45" dirty="0">
                <a:latin typeface="Tahoma"/>
                <a:cs typeface="Tahoma"/>
              </a:rPr>
              <a:t>Technology,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Ashta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3428999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13123" y="1449146"/>
            <a:ext cx="3608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What</a:t>
            </a:r>
            <a:r>
              <a:rPr spc="-195" dirty="0"/>
              <a:t> </a:t>
            </a:r>
            <a:r>
              <a:rPr spc="-225" dirty="0"/>
              <a:t>Is</a:t>
            </a:r>
            <a:r>
              <a:rPr spc="-210" dirty="0"/>
              <a:t> </a:t>
            </a:r>
            <a:r>
              <a:rPr spc="-110" dirty="0"/>
              <a:t>Engineering</a:t>
            </a:r>
            <a:r>
              <a:rPr spc="-155" dirty="0"/>
              <a:t> </a:t>
            </a:r>
            <a:r>
              <a:rPr spc="-45" dirty="0"/>
              <a:t>Ethics?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165">
              <a:lnSpc>
                <a:spcPct val="132700"/>
              </a:lnSpc>
              <a:spcBef>
                <a:spcPts val="100"/>
              </a:spcBef>
            </a:pPr>
            <a:r>
              <a:rPr spc="10" dirty="0"/>
              <a:t>Engineering ethics</a:t>
            </a:r>
            <a:r>
              <a:rPr spc="-20" dirty="0"/>
              <a:t> </a:t>
            </a:r>
            <a:r>
              <a:rPr spc="10" dirty="0"/>
              <a:t>is the</a:t>
            </a:r>
            <a:r>
              <a:rPr spc="5" dirty="0"/>
              <a:t> </a:t>
            </a:r>
            <a:r>
              <a:rPr spc="10" dirty="0"/>
              <a:t>practice</a:t>
            </a:r>
            <a:r>
              <a:rPr spc="-40" dirty="0"/>
              <a:t> </a:t>
            </a:r>
            <a:r>
              <a:rPr spc="10" dirty="0"/>
              <a:t>of</a:t>
            </a:r>
            <a:r>
              <a:rPr spc="20" dirty="0"/>
              <a:t> </a:t>
            </a:r>
            <a:r>
              <a:rPr spc="10" dirty="0"/>
              <a:t>applying moral</a:t>
            </a:r>
            <a:r>
              <a:rPr spc="-20" dirty="0"/>
              <a:t> </a:t>
            </a:r>
            <a:r>
              <a:rPr spc="10" dirty="0"/>
              <a:t>principles</a:t>
            </a:r>
            <a:r>
              <a:rPr spc="-20" dirty="0"/>
              <a:t> </a:t>
            </a:r>
            <a:r>
              <a:rPr spc="-25" dirty="0"/>
              <a:t>and </a:t>
            </a:r>
            <a:r>
              <a:rPr dirty="0"/>
              <a:t>professional</a:t>
            </a:r>
            <a:r>
              <a:rPr spc="40" dirty="0"/>
              <a:t> </a:t>
            </a:r>
            <a:r>
              <a:rPr dirty="0"/>
              <a:t>standards</a:t>
            </a:r>
            <a:r>
              <a:rPr spc="15" dirty="0"/>
              <a:t> </a:t>
            </a:r>
            <a:r>
              <a:rPr dirty="0"/>
              <a:t>to</a:t>
            </a:r>
            <a:r>
              <a:rPr spc="90" dirty="0"/>
              <a:t> </a:t>
            </a:r>
            <a:r>
              <a:rPr dirty="0"/>
              <a:t>engineering</a:t>
            </a:r>
            <a:r>
              <a:rPr spc="65" dirty="0"/>
              <a:t> </a:t>
            </a:r>
            <a:r>
              <a:rPr dirty="0"/>
              <a:t>work.</a:t>
            </a:r>
            <a:r>
              <a:rPr spc="75" dirty="0"/>
              <a:t> </a:t>
            </a:r>
            <a:r>
              <a:rPr spc="-80" dirty="0"/>
              <a:t>It</a:t>
            </a:r>
            <a:r>
              <a:rPr spc="65" dirty="0"/>
              <a:t> </a:t>
            </a:r>
            <a:r>
              <a:rPr dirty="0"/>
              <a:t>guides</a:t>
            </a:r>
            <a:r>
              <a:rPr spc="80" dirty="0"/>
              <a:t> </a:t>
            </a:r>
            <a:r>
              <a:rPr dirty="0"/>
              <a:t>engineers</a:t>
            </a:r>
            <a:r>
              <a:rPr spc="40" dirty="0"/>
              <a:t> </a:t>
            </a:r>
            <a:r>
              <a:rPr dirty="0"/>
              <a:t>to</a:t>
            </a:r>
            <a:r>
              <a:rPr spc="90" dirty="0"/>
              <a:t> </a:t>
            </a:r>
            <a:r>
              <a:rPr spc="-20" dirty="0"/>
              <a:t>make </a:t>
            </a:r>
            <a:r>
              <a:rPr dirty="0"/>
              <a:t>decisions</a:t>
            </a:r>
            <a:r>
              <a:rPr spc="45" dirty="0"/>
              <a:t> </a:t>
            </a:r>
            <a:r>
              <a:rPr dirty="0"/>
              <a:t>that</a:t>
            </a:r>
            <a:r>
              <a:rPr spc="90" dirty="0"/>
              <a:t> </a:t>
            </a:r>
            <a:r>
              <a:rPr dirty="0"/>
              <a:t>are</a:t>
            </a:r>
            <a:r>
              <a:rPr spc="40" dirty="0"/>
              <a:t> </a:t>
            </a:r>
            <a:r>
              <a:rPr dirty="0"/>
              <a:t>responsible,</a:t>
            </a:r>
            <a:r>
              <a:rPr spc="20" dirty="0"/>
              <a:t> </a:t>
            </a:r>
            <a:r>
              <a:rPr dirty="0"/>
              <a:t>fair,</a:t>
            </a:r>
            <a:r>
              <a:rPr spc="60" dirty="0"/>
              <a:t> </a:t>
            </a:r>
            <a:r>
              <a:rPr dirty="0"/>
              <a:t>and</a:t>
            </a:r>
            <a:r>
              <a:rPr spc="65" dirty="0"/>
              <a:t> </a:t>
            </a:r>
            <a:r>
              <a:rPr dirty="0"/>
              <a:t>considerate</a:t>
            </a:r>
            <a:r>
              <a:rPr spc="3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broader</a:t>
            </a:r>
            <a:r>
              <a:rPr spc="60" dirty="0"/>
              <a:t> </a:t>
            </a:r>
            <a:r>
              <a:rPr spc="-10" dirty="0"/>
              <a:t>impacts.</a:t>
            </a: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pc="-10" dirty="0"/>
          </a:p>
          <a:p>
            <a:pPr marL="236220" indent="-223520">
              <a:lnSpc>
                <a:spcPct val="100000"/>
              </a:lnSpc>
              <a:buChar char="•"/>
              <a:tabLst>
                <a:tab pos="236220" algn="l"/>
              </a:tabLst>
            </a:pPr>
            <a:r>
              <a:rPr dirty="0"/>
              <a:t>Considers</a:t>
            </a:r>
            <a:r>
              <a:rPr spc="75" dirty="0"/>
              <a:t> </a:t>
            </a:r>
            <a:r>
              <a:rPr dirty="0"/>
              <a:t>effects</a:t>
            </a:r>
            <a:r>
              <a:rPr spc="100" dirty="0"/>
              <a:t> </a:t>
            </a:r>
            <a:r>
              <a:rPr dirty="0"/>
              <a:t>on</a:t>
            </a:r>
            <a:r>
              <a:rPr spc="125" dirty="0"/>
              <a:t> </a:t>
            </a:r>
            <a:r>
              <a:rPr dirty="0"/>
              <a:t>people,</a:t>
            </a:r>
            <a:r>
              <a:rPr spc="95" dirty="0"/>
              <a:t> </a:t>
            </a:r>
            <a:r>
              <a:rPr dirty="0"/>
              <a:t>society,</a:t>
            </a:r>
            <a:r>
              <a:rPr spc="60" dirty="0"/>
              <a:t> </a:t>
            </a:r>
            <a:r>
              <a:rPr dirty="0"/>
              <a:t>environment,</a:t>
            </a:r>
            <a:r>
              <a:rPr spc="80" dirty="0"/>
              <a:t> </a:t>
            </a:r>
            <a:r>
              <a:rPr dirty="0"/>
              <a:t>and</a:t>
            </a:r>
            <a:r>
              <a:rPr spc="110" dirty="0"/>
              <a:t> </a:t>
            </a:r>
            <a:r>
              <a:rPr spc="-10" dirty="0"/>
              <a:t>organizations</a:t>
            </a:r>
          </a:p>
          <a:p>
            <a:pPr marL="236220" indent="-223520">
              <a:lnSpc>
                <a:spcPct val="100000"/>
              </a:lnSpc>
              <a:spcBef>
                <a:spcPts val="430"/>
              </a:spcBef>
              <a:buChar char="•"/>
              <a:tabLst>
                <a:tab pos="236220" algn="l"/>
              </a:tabLst>
            </a:pPr>
            <a:r>
              <a:rPr spc="10" dirty="0"/>
              <a:t>Balances</a:t>
            </a:r>
            <a:r>
              <a:rPr spc="-25" dirty="0"/>
              <a:t> </a:t>
            </a:r>
            <a:r>
              <a:rPr spc="10" dirty="0"/>
              <a:t>technical</a:t>
            </a:r>
            <a:r>
              <a:rPr spc="-5" dirty="0"/>
              <a:t> </a:t>
            </a:r>
            <a:r>
              <a:rPr spc="10" dirty="0"/>
              <a:t>goals with</a:t>
            </a:r>
            <a:r>
              <a:rPr spc="35" dirty="0"/>
              <a:t> </a:t>
            </a:r>
            <a:r>
              <a:rPr spc="10" dirty="0"/>
              <a:t>moral</a:t>
            </a:r>
            <a:r>
              <a:rPr spc="-5" dirty="0"/>
              <a:t> </a:t>
            </a:r>
            <a:r>
              <a:rPr spc="-10" dirty="0"/>
              <a:t>responsibility</a:t>
            </a:r>
          </a:p>
          <a:p>
            <a:pPr marL="236220" indent="-223520">
              <a:lnSpc>
                <a:spcPct val="100000"/>
              </a:lnSpc>
              <a:spcBef>
                <a:spcPts val="434"/>
              </a:spcBef>
              <a:buChar char="•"/>
              <a:tabLst>
                <a:tab pos="236220" algn="l"/>
              </a:tabLst>
            </a:pPr>
            <a:r>
              <a:rPr dirty="0"/>
              <a:t>Example:</a:t>
            </a:r>
            <a:r>
              <a:rPr spc="5" dirty="0"/>
              <a:t> </a:t>
            </a:r>
            <a:r>
              <a:rPr dirty="0"/>
              <a:t>Never</a:t>
            </a:r>
            <a:r>
              <a:rPr spc="5" dirty="0"/>
              <a:t> </a:t>
            </a:r>
            <a:r>
              <a:rPr dirty="0"/>
              <a:t>ignore</a:t>
            </a:r>
            <a:r>
              <a:rPr spc="3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dirty="0"/>
              <a:t>safety</a:t>
            </a:r>
            <a:r>
              <a:rPr spc="-5" dirty="0"/>
              <a:t> </a:t>
            </a:r>
            <a:r>
              <a:rPr dirty="0"/>
              <a:t>issue</a:t>
            </a:r>
            <a:r>
              <a:rPr spc="10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dirty="0"/>
              <a:t>save</a:t>
            </a:r>
            <a:r>
              <a:rPr spc="-15" dirty="0"/>
              <a:t> </a:t>
            </a:r>
            <a:r>
              <a:rPr dirty="0"/>
              <a:t>time</a:t>
            </a:r>
            <a:r>
              <a:rPr spc="35" dirty="0"/>
              <a:t> </a:t>
            </a:r>
            <a:r>
              <a:rPr dirty="0"/>
              <a:t>or</a:t>
            </a:r>
            <a:r>
              <a:rPr spc="40" dirty="0"/>
              <a:t> </a:t>
            </a:r>
            <a:r>
              <a:rPr spc="-20" dirty="0"/>
              <a:t>cost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246" y="4531151"/>
            <a:ext cx="2857754" cy="548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-1"/>
            <a:ext cx="3429000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3514" y="400253"/>
            <a:ext cx="37839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0" dirty="0"/>
              <a:t>Why</a:t>
            </a:r>
            <a:r>
              <a:rPr sz="2000" spc="-200" dirty="0"/>
              <a:t> </a:t>
            </a:r>
            <a:r>
              <a:rPr sz="2000" spc="-95" dirty="0"/>
              <a:t>Engineering</a:t>
            </a:r>
            <a:r>
              <a:rPr sz="2000" spc="-210" dirty="0"/>
              <a:t> </a:t>
            </a:r>
            <a:r>
              <a:rPr sz="2000" spc="-60" dirty="0"/>
              <a:t>Ethics</a:t>
            </a:r>
            <a:r>
              <a:rPr sz="2000" spc="-180" dirty="0"/>
              <a:t> </a:t>
            </a:r>
            <a:r>
              <a:rPr sz="2000" spc="-35" dirty="0"/>
              <a:t>Matters</a:t>
            </a:r>
            <a:endParaRPr sz="2000"/>
          </a:p>
        </p:txBody>
      </p:sp>
      <p:grpSp>
        <p:nvGrpSpPr>
          <p:cNvPr id="4" name="object 4"/>
          <p:cNvGrpSpPr/>
          <p:nvPr/>
        </p:nvGrpSpPr>
        <p:grpSpPr>
          <a:xfrm>
            <a:off x="538140" y="935425"/>
            <a:ext cx="239395" cy="303530"/>
            <a:chOff x="538140" y="935425"/>
            <a:chExt cx="239395" cy="3035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151" y="935436"/>
              <a:ext cx="239046" cy="3030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4580" y="941865"/>
              <a:ext cx="225425" cy="290830"/>
            </a:xfrm>
            <a:custGeom>
              <a:avLst/>
              <a:gdLst/>
              <a:ahLst/>
              <a:cxnLst/>
              <a:rect l="l" t="t" r="r" b="b"/>
              <a:pathLst>
                <a:path w="225425" h="290830">
                  <a:moveTo>
                    <a:pt x="112884" y="290218"/>
                  </a:moveTo>
                  <a:lnTo>
                    <a:pt x="112714" y="0"/>
                  </a:lnTo>
                </a:path>
                <a:path w="225425" h="290830">
                  <a:moveTo>
                    <a:pt x="27765" y="203552"/>
                  </a:moveTo>
                  <a:lnTo>
                    <a:pt x="17841" y="184259"/>
                  </a:lnTo>
                  <a:lnTo>
                    <a:pt x="10787" y="165000"/>
                  </a:lnTo>
                  <a:lnTo>
                    <a:pt x="5963" y="145757"/>
                  </a:lnTo>
                  <a:lnTo>
                    <a:pt x="2726" y="126510"/>
                  </a:lnTo>
                </a:path>
                <a:path w="225425" h="290830">
                  <a:moveTo>
                    <a:pt x="225408" y="106343"/>
                  </a:moveTo>
                  <a:lnTo>
                    <a:pt x="223535" y="125608"/>
                  </a:lnTo>
                </a:path>
                <a:path w="225425" h="290830">
                  <a:moveTo>
                    <a:pt x="2726" y="126510"/>
                  </a:moveTo>
                  <a:lnTo>
                    <a:pt x="0" y="42932"/>
                  </a:lnTo>
                </a:path>
              </a:pathLst>
            </a:custGeom>
            <a:ln w="128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3514" y="1371091"/>
            <a:ext cx="4279265" cy="668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60" dirty="0">
                <a:solidFill>
                  <a:srgbClr val="272424"/>
                </a:solidFill>
                <a:latin typeface="Tahoma"/>
                <a:cs typeface="Tahoma"/>
              </a:rPr>
              <a:t>Protect</a:t>
            </a:r>
            <a:r>
              <a:rPr sz="1250" b="1" spc="-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50" b="1" spc="-50" dirty="0">
                <a:solidFill>
                  <a:srgbClr val="272424"/>
                </a:solidFill>
                <a:latin typeface="Tahoma"/>
                <a:cs typeface="Tahoma"/>
              </a:rPr>
              <a:t>Public</a:t>
            </a:r>
            <a:r>
              <a:rPr sz="1250" b="1" spc="-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272424"/>
                </a:solidFill>
                <a:latin typeface="Tahoma"/>
                <a:cs typeface="Tahoma"/>
              </a:rPr>
              <a:t>Safety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Ethical</a:t>
            </a:r>
            <a:r>
              <a:rPr sz="10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practice</a:t>
            </a:r>
            <a:r>
              <a:rPr sz="10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prevents</a:t>
            </a:r>
            <a:r>
              <a:rPr sz="100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harm</a:t>
            </a:r>
            <a:r>
              <a:rPr sz="10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by</a:t>
            </a:r>
            <a:r>
              <a:rPr sz="10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prioritizing</a:t>
            </a:r>
            <a:r>
              <a:rPr sz="10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safety</a:t>
            </a:r>
            <a:r>
              <a:rPr sz="10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sz="10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design,</a:t>
            </a:r>
            <a:r>
              <a:rPr sz="10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testing,</a:t>
            </a:r>
            <a:r>
              <a:rPr sz="10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solidFill>
                  <a:srgbClr val="272424"/>
                </a:solidFill>
                <a:latin typeface="Tahoma"/>
                <a:cs typeface="Tahoma"/>
              </a:rPr>
              <a:t>maintenance.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855" y="2338908"/>
            <a:ext cx="303627" cy="2199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3514" y="2733294"/>
            <a:ext cx="4606925" cy="475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60" dirty="0">
                <a:solidFill>
                  <a:srgbClr val="272424"/>
                </a:solidFill>
                <a:latin typeface="Tahoma"/>
                <a:cs typeface="Tahoma"/>
              </a:rPr>
              <a:t>Build</a:t>
            </a:r>
            <a:r>
              <a:rPr sz="1250" b="1" spc="-1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272424"/>
                </a:solidFill>
                <a:latin typeface="Tahoma"/>
                <a:cs typeface="Tahoma"/>
              </a:rPr>
              <a:t>Trust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Honest</a:t>
            </a:r>
            <a:r>
              <a:rPr sz="10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communication</a:t>
            </a:r>
            <a:r>
              <a:rPr sz="1000" spc="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0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transparency</a:t>
            </a:r>
            <a:r>
              <a:rPr sz="1000" spc="1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maintain</a:t>
            </a:r>
            <a:r>
              <a:rPr sz="100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public</a:t>
            </a:r>
            <a:r>
              <a:rPr sz="10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0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client</a:t>
            </a:r>
            <a:r>
              <a:rPr sz="100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Tahoma"/>
                <a:cs typeface="Tahoma"/>
              </a:rPr>
              <a:t>confidence.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5852" y="3491901"/>
            <a:ext cx="303637" cy="24579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3514" y="3899408"/>
            <a:ext cx="4136390" cy="475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70" dirty="0">
                <a:solidFill>
                  <a:srgbClr val="272424"/>
                </a:solidFill>
                <a:latin typeface="Tahoma"/>
                <a:cs typeface="Tahoma"/>
              </a:rPr>
              <a:t>Promote</a:t>
            </a:r>
            <a:r>
              <a:rPr sz="1250" b="1" spc="-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272424"/>
                </a:solidFill>
                <a:latin typeface="Tahoma"/>
                <a:cs typeface="Tahoma"/>
              </a:rPr>
              <a:t>Responsibility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Engineers</a:t>
            </a:r>
            <a:r>
              <a:rPr sz="1000" spc="1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must</a:t>
            </a:r>
            <a:r>
              <a:rPr sz="10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accept</a:t>
            </a:r>
            <a:r>
              <a:rPr sz="1000" spc="1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accountability</a:t>
            </a:r>
            <a:r>
              <a:rPr sz="1000" spc="1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sz="10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decisions</a:t>
            </a:r>
            <a:r>
              <a:rPr sz="1000" spc="9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0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72424"/>
                </a:solidFill>
                <a:latin typeface="Tahoma"/>
                <a:cs typeface="Tahoma"/>
              </a:rPr>
              <a:t>their</a:t>
            </a:r>
            <a:r>
              <a:rPr sz="100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72424"/>
                </a:solidFill>
                <a:latin typeface="Tahoma"/>
                <a:cs typeface="Tahoma"/>
              </a:rPr>
              <a:t>outcomes.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3226" y="4560517"/>
            <a:ext cx="2857754" cy="54869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3514" y="872743"/>
            <a:ext cx="47758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Core</a:t>
            </a:r>
            <a:r>
              <a:rPr spc="-185" dirty="0"/>
              <a:t> </a:t>
            </a:r>
            <a:r>
              <a:rPr spc="-85" dirty="0"/>
              <a:t>Principles</a:t>
            </a:r>
            <a:r>
              <a:rPr spc="-160" dirty="0"/>
              <a:t> </a:t>
            </a:r>
            <a:r>
              <a:rPr spc="-45" dirty="0"/>
              <a:t>of</a:t>
            </a:r>
            <a:r>
              <a:rPr spc="-195" dirty="0"/>
              <a:t> </a:t>
            </a:r>
            <a:r>
              <a:rPr spc="-110" dirty="0"/>
              <a:t>Engineering</a:t>
            </a:r>
            <a:r>
              <a:rPr spc="-140" dirty="0"/>
              <a:t> </a:t>
            </a:r>
            <a:r>
              <a:rPr spc="-25" dirty="0"/>
              <a:t>Ethics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3731" y="1537366"/>
            <a:ext cx="1936750" cy="1511935"/>
            <a:chOff x="493731" y="1537366"/>
            <a:chExt cx="1936750" cy="1511935"/>
          </a:xfrm>
        </p:grpSpPr>
        <p:sp>
          <p:nvSpPr>
            <p:cNvPr id="5" name="object 5"/>
            <p:cNvSpPr/>
            <p:nvPr/>
          </p:nvSpPr>
          <p:spPr>
            <a:xfrm>
              <a:off x="496112" y="1539748"/>
              <a:ext cx="1931670" cy="1506855"/>
            </a:xfrm>
            <a:custGeom>
              <a:avLst/>
              <a:gdLst/>
              <a:ahLst/>
              <a:cxnLst/>
              <a:rect l="l" t="t" r="r" b="b"/>
              <a:pathLst>
                <a:path w="1931670" h="1506855">
                  <a:moveTo>
                    <a:pt x="1872056" y="0"/>
                  </a:moveTo>
                  <a:lnTo>
                    <a:pt x="59550" y="0"/>
                  </a:lnTo>
                  <a:lnTo>
                    <a:pt x="36374" y="4681"/>
                  </a:lnTo>
                  <a:lnTo>
                    <a:pt x="17445" y="17446"/>
                  </a:lnTo>
                  <a:lnTo>
                    <a:pt x="4680" y="36379"/>
                  </a:lnTo>
                  <a:lnTo>
                    <a:pt x="0" y="59562"/>
                  </a:lnTo>
                  <a:lnTo>
                    <a:pt x="0" y="1447291"/>
                  </a:lnTo>
                  <a:lnTo>
                    <a:pt x="4680" y="1470475"/>
                  </a:lnTo>
                  <a:lnTo>
                    <a:pt x="17445" y="1489408"/>
                  </a:lnTo>
                  <a:lnTo>
                    <a:pt x="36374" y="1502173"/>
                  </a:lnTo>
                  <a:lnTo>
                    <a:pt x="59550" y="1506854"/>
                  </a:lnTo>
                  <a:lnTo>
                    <a:pt x="1872056" y="1506854"/>
                  </a:lnTo>
                  <a:lnTo>
                    <a:pt x="1895239" y="1502173"/>
                  </a:lnTo>
                  <a:lnTo>
                    <a:pt x="1914172" y="1489408"/>
                  </a:lnTo>
                  <a:lnTo>
                    <a:pt x="1926938" y="1470475"/>
                  </a:lnTo>
                  <a:lnTo>
                    <a:pt x="1931619" y="1447291"/>
                  </a:lnTo>
                  <a:lnTo>
                    <a:pt x="1931619" y="59562"/>
                  </a:lnTo>
                  <a:lnTo>
                    <a:pt x="1926938" y="36379"/>
                  </a:lnTo>
                  <a:lnTo>
                    <a:pt x="1914172" y="17446"/>
                  </a:lnTo>
                  <a:lnTo>
                    <a:pt x="1895239" y="4681"/>
                  </a:lnTo>
                  <a:lnTo>
                    <a:pt x="1872056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112" y="1539748"/>
              <a:ext cx="1931670" cy="1506855"/>
            </a:xfrm>
            <a:custGeom>
              <a:avLst/>
              <a:gdLst/>
              <a:ahLst/>
              <a:cxnLst/>
              <a:rect l="l" t="t" r="r" b="b"/>
              <a:pathLst>
                <a:path w="1931670" h="1506855">
                  <a:moveTo>
                    <a:pt x="0" y="59562"/>
                  </a:moveTo>
                  <a:lnTo>
                    <a:pt x="4680" y="36379"/>
                  </a:lnTo>
                  <a:lnTo>
                    <a:pt x="17445" y="17446"/>
                  </a:lnTo>
                  <a:lnTo>
                    <a:pt x="36374" y="4681"/>
                  </a:lnTo>
                  <a:lnTo>
                    <a:pt x="59550" y="0"/>
                  </a:lnTo>
                  <a:lnTo>
                    <a:pt x="1872056" y="0"/>
                  </a:lnTo>
                  <a:lnTo>
                    <a:pt x="1895239" y="4681"/>
                  </a:lnTo>
                  <a:lnTo>
                    <a:pt x="1914172" y="17446"/>
                  </a:lnTo>
                  <a:lnTo>
                    <a:pt x="1926938" y="36379"/>
                  </a:lnTo>
                  <a:lnTo>
                    <a:pt x="1931619" y="59562"/>
                  </a:lnTo>
                  <a:lnTo>
                    <a:pt x="1931619" y="1447291"/>
                  </a:lnTo>
                  <a:lnTo>
                    <a:pt x="1926938" y="1470475"/>
                  </a:lnTo>
                  <a:lnTo>
                    <a:pt x="1914172" y="1489408"/>
                  </a:lnTo>
                  <a:lnTo>
                    <a:pt x="1895239" y="1502173"/>
                  </a:lnTo>
                  <a:lnTo>
                    <a:pt x="1872056" y="1506854"/>
                  </a:lnTo>
                  <a:lnTo>
                    <a:pt x="59550" y="1506854"/>
                  </a:lnTo>
                  <a:lnTo>
                    <a:pt x="36374" y="1502173"/>
                  </a:lnTo>
                  <a:lnTo>
                    <a:pt x="17445" y="1489408"/>
                  </a:lnTo>
                  <a:lnTo>
                    <a:pt x="4680" y="1470475"/>
                  </a:lnTo>
                  <a:lnTo>
                    <a:pt x="0" y="1447291"/>
                  </a:lnTo>
                  <a:lnTo>
                    <a:pt x="0" y="59562"/>
                  </a:lnTo>
                  <a:close/>
                </a:path>
              </a:pathLst>
            </a:custGeom>
            <a:ln w="4763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0123" y="1661922"/>
            <a:ext cx="1426845" cy="1209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Honesty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665"/>
              </a:spcBef>
            </a:pP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Provide</a:t>
            </a:r>
            <a:r>
              <a:rPr sz="1100" spc="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truthful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sz="110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sz="110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reports,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estimates,</a:t>
            </a:r>
            <a:r>
              <a:rPr sz="11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communications.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67082" y="1537366"/>
            <a:ext cx="1936750" cy="1511935"/>
            <a:chOff x="2567082" y="1537366"/>
            <a:chExt cx="1936750" cy="1511935"/>
          </a:xfrm>
        </p:grpSpPr>
        <p:sp>
          <p:nvSpPr>
            <p:cNvPr id="9" name="object 9"/>
            <p:cNvSpPr/>
            <p:nvPr/>
          </p:nvSpPr>
          <p:spPr>
            <a:xfrm>
              <a:off x="2569463" y="1539748"/>
              <a:ext cx="1931670" cy="1506855"/>
            </a:xfrm>
            <a:custGeom>
              <a:avLst/>
              <a:gdLst/>
              <a:ahLst/>
              <a:cxnLst/>
              <a:rect l="l" t="t" r="r" b="b"/>
              <a:pathLst>
                <a:path w="1931670" h="1506855">
                  <a:moveTo>
                    <a:pt x="1872107" y="0"/>
                  </a:moveTo>
                  <a:lnTo>
                    <a:pt x="59562" y="0"/>
                  </a:lnTo>
                  <a:lnTo>
                    <a:pt x="36379" y="4681"/>
                  </a:lnTo>
                  <a:lnTo>
                    <a:pt x="17446" y="17446"/>
                  </a:lnTo>
                  <a:lnTo>
                    <a:pt x="4681" y="36379"/>
                  </a:lnTo>
                  <a:lnTo>
                    <a:pt x="0" y="59562"/>
                  </a:lnTo>
                  <a:lnTo>
                    <a:pt x="0" y="1447291"/>
                  </a:lnTo>
                  <a:lnTo>
                    <a:pt x="4681" y="1470475"/>
                  </a:lnTo>
                  <a:lnTo>
                    <a:pt x="17446" y="1489408"/>
                  </a:lnTo>
                  <a:lnTo>
                    <a:pt x="36379" y="1502173"/>
                  </a:lnTo>
                  <a:lnTo>
                    <a:pt x="59562" y="1506854"/>
                  </a:lnTo>
                  <a:lnTo>
                    <a:pt x="1872107" y="1506854"/>
                  </a:lnTo>
                  <a:lnTo>
                    <a:pt x="1895290" y="1502173"/>
                  </a:lnTo>
                  <a:lnTo>
                    <a:pt x="1914223" y="1489408"/>
                  </a:lnTo>
                  <a:lnTo>
                    <a:pt x="1926988" y="1470475"/>
                  </a:lnTo>
                  <a:lnTo>
                    <a:pt x="1931670" y="1447291"/>
                  </a:lnTo>
                  <a:lnTo>
                    <a:pt x="1931670" y="59562"/>
                  </a:lnTo>
                  <a:lnTo>
                    <a:pt x="1926988" y="36379"/>
                  </a:lnTo>
                  <a:lnTo>
                    <a:pt x="1914223" y="17446"/>
                  </a:lnTo>
                  <a:lnTo>
                    <a:pt x="1895290" y="4681"/>
                  </a:lnTo>
                  <a:lnTo>
                    <a:pt x="187210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69463" y="1539748"/>
              <a:ext cx="1931670" cy="1506855"/>
            </a:xfrm>
            <a:custGeom>
              <a:avLst/>
              <a:gdLst/>
              <a:ahLst/>
              <a:cxnLst/>
              <a:rect l="l" t="t" r="r" b="b"/>
              <a:pathLst>
                <a:path w="1931670" h="1506855">
                  <a:moveTo>
                    <a:pt x="0" y="59562"/>
                  </a:moveTo>
                  <a:lnTo>
                    <a:pt x="4681" y="36379"/>
                  </a:lnTo>
                  <a:lnTo>
                    <a:pt x="17446" y="17446"/>
                  </a:lnTo>
                  <a:lnTo>
                    <a:pt x="36379" y="4681"/>
                  </a:lnTo>
                  <a:lnTo>
                    <a:pt x="59562" y="0"/>
                  </a:lnTo>
                  <a:lnTo>
                    <a:pt x="1872107" y="0"/>
                  </a:lnTo>
                  <a:lnTo>
                    <a:pt x="1895290" y="4681"/>
                  </a:lnTo>
                  <a:lnTo>
                    <a:pt x="1914223" y="17446"/>
                  </a:lnTo>
                  <a:lnTo>
                    <a:pt x="1926988" y="36379"/>
                  </a:lnTo>
                  <a:lnTo>
                    <a:pt x="1931670" y="59562"/>
                  </a:lnTo>
                  <a:lnTo>
                    <a:pt x="1931670" y="1447291"/>
                  </a:lnTo>
                  <a:lnTo>
                    <a:pt x="1926988" y="1470475"/>
                  </a:lnTo>
                  <a:lnTo>
                    <a:pt x="1914223" y="1489408"/>
                  </a:lnTo>
                  <a:lnTo>
                    <a:pt x="1895290" y="1502173"/>
                  </a:lnTo>
                  <a:lnTo>
                    <a:pt x="1872107" y="1506854"/>
                  </a:lnTo>
                  <a:lnTo>
                    <a:pt x="59562" y="1506854"/>
                  </a:lnTo>
                  <a:lnTo>
                    <a:pt x="36379" y="1502173"/>
                  </a:lnTo>
                  <a:lnTo>
                    <a:pt x="17446" y="1489408"/>
                  </a:lnTo>
                  <a:lnTo>
                    <a:pt x="4681" y="1470475"/>
                  </a:lnTo>
                  <a:lnTo>
                    <a:pt x="0" y="1447291"/>
                  </a:lnTo>
                  <a:lnTo>
                    <a:pt x="0" y="59562"/>
                  </a:lnTo>
                  <a:close/>
                </a:path>
              </a:pathLst>
            </a:custGeom>
            <a:ln w="4763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03702" y="1661922"/>
            <a:ext cx="1534795" cy="9855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Responsibility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800"/>
              </a:lnSpc>
              <a:spcBef>
                <a:spcPts val="670"/>
              </a:spcBef>
            </a:pP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Own</a:t>
            </a:r>
            <a:r>
              <a:rPr sz="11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sz="1100" spc="35" dirty="0">
                <a:solidFill>
                  <a:srgbClr val="272424"/>
                </a:solidFill>
                <a:latin typeface="Tahoma"/>
                <a:cs typeface="Tahoma"/>
              </a:rPr>
              <a:t>consequences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your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decisions;</a:t>
            </a:r>
            <a:r>
              <a:rPr sz="110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Tahoma"/>
                <a:cs typeface="Tahoma"/>
              </a:rPr>
              <a:t>act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sz="1100" spc="1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problems</a:t>
            </a:r>
            <a:r>
              <a:rPr sz="1100" spc="9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arise.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40484" y="1537366"/>
            <a:ext cx="1936750" cy="1511935"/>
            <a:chOff x="4640484" y="1537366"/>
            <a:chExt cx="1936750" cy="1511935"/>
          </a:xfrm>
        </p:grpSpPr>
        <p:sp>
          <p:nvSpPr>
            <p:cNvPr id="13" name="object 13"/>
            <p:cNvSpPr/>
            <p:nvPr/>
          </p:nvSpPr>
          <p:spPr>
            <a:xfrm>
              <a:off x="4642866" y="1539748"/>
              <a:ext cx="1931670" cy="1506855"/>
            </a:xfrm>
            <a:custGeom>
              <a:avLst/>
              <a:gdLst/>
              <a:ahLst/>
              <a:cxnLst/>
              <a:rect l="l" t="t" r="r" b="b"/>
              <a:pathLst>
                <a:path w="1931670" h="1506855">
                  <a:moveTo>
                    <a:pt x="1872107" y="0"/>
                  </a:moveTo>
                  <a:lnTo>
                    <a:pt x="59562" y="0"/>
                  </a:lnTo>
                  <a:lnTo>
                    <a:pt x="36379" y="4681"/>
                  </a:lnTo>
                  <a:lnTo>
                    <a:pt x="17446" y="17446"/>
                  </a:lnTo>
                  <a:lnTo>
                    <a:pt x="4681" y="36379"/>
                  </a:lnTo>
                  <a:lnTo>
                    <a:pt x="0" y="59562"/>
                  </a:lnTo>
                  <a:lnTo>
                    <a:pt x="0" y="1447291"/>
                  </a:lnTo>
                  <a:lnTo>
                    <a:pt x="4681" y="1470475"/>
                  </a:lnTo>
                  <a:lnTo>
                    <a:pt x="17446" y="1489408"/>
                  </a:lnTo>
                  <a:lnTo>
                    <a:pt x="36379" y="1502173"/>
                  </a:lnTo>
                  <a:lnTo>
                    <a:pt x="59562" y="1506854"/>
                  </a:lnTo>
                  <a:lnTo>
                    <a:pt x="1872107" y="1506854"/>
                  </a:lnTo>
                  <a:lnTo>
                    <a:pt x="1895290" y="1502173"/>
                  </a:lnTo>
                  <a:lnTo>
                    <a:pt x="1914223" y="1489408"/>
                  </a:lnTo>
                  <a:lnTo>
                    <a:pt x="1926988" y="1470475"/>
                  </a:lnTo>
                  <a:lnTo>
                    <a:pt x="1931669" y="1447291"/>
                  </a:lnTo>
                  <a:lnTo>
                    <a:pt x="1931669" y="59562"/>
                  </a:lnTo>
                  <a:lnTo>
                    <a:pt x="1926988" y="36379"/>
                  </a:lnTo>
                  <a:lnTo>
                    <a:pt x="1914223" y="17446"/>
                  </a:lnTo>
                  <a:lnTo>
                    <a:pt x="1895290" y="4681"/>
                  </a:lnTo>
                  <a:lnTo>
                    <a:pt x="187210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42866" y="1539748"/>
              <a:ext cx="1931670" cy="1506855"/>
            </a:xfrm>
            <a:custGeom>
              <a:avLst/>
              <a:gdLst/>
              <a:ahLst/>
              <a:cxnLst/>
              <a:rect l="l" t="t" r="r" b="b"/>
              <a:pathLst>
                <a:path w="1931670" h="1506855">
                  <a:moveTo>
                    <a:pt x="0" y="59562"/>
                  </a:moveTo>
                  <a:lnTo>
                    <a:pt x="4681" y="36379"/>
                  </a:lnTo>
                  <a:lnTo>
                    <a:pt x="17446" y="17446"/>
                  </a:lnTo>
                  <a:lnTo>
                    <a:pt x="36379" y="4681"/>
                  </a:lnTo>
                  <a:lnTo>
                    <a:pt x="59562" y="0"/>
                  </a:lnTo>
                  <a:lnTo>
                    <a:pt x="1872107" y="0"/>
                  </a:lnTo>
                  <a:lnTo>
                    <a:pt x="1895290" y="4681"/>
                  </a:lnTo>
                  <a:lnTo>
                    <a:pt x="1914223" y="17446"/>
                  </a:lnTo>
                  <a:lnTo>
                    <a:pt x="1926988" y="36379"/>
                  </a:lnTo>
                  <a:lnTo>
                    <a:pt x="1931669" y="59562"/>
                  </a:lnTo>
                  <a:lnTo>
                    <a:pt x="1931669" y="1447291"/>
                  </a:lnTo>
                  <a:lnTo>
                    <a:pt x="1926988" y="1470475"/>
                  </a:lnTo>
                  <a:lnTo>
                    <a:pt x="1914223" y="1489408"/>
                  </a:lnTo>
                  <a:lnTo>
                    <a:pt x="1895290" y="1502173"/>
                  </a:lnTo>
                  <a:lnTo>
                    <a:pt x="1872107" y="1506854"/>
                  </a:lnTo>
                  <a:lnTo>
                    <a:pt x="59562" y="1506854"/>
                  </a:lnTo>
                  <a:lnTo>
                    <a:pt x="36379" y="1502173"/>
                  </a:lnTo>
                  <a:lnTo>
                    <a:pt x="17446" y="1489408"/>
                  </a:lnTo>
                  <a:lnTo>
                    <a:pt x="4681" y="1470475"/>
                  </a:lnTo>
                  <a:lnTo>
                    <a:pt x="0" y="1447291"/>
                  </a:lnTo>
                  <a:lnTo>
                    <a:pt x="0" y="59562"/>
                  </a:lnTo>
                  <a:close/>
                </a:path>
              </a:pathLst>
            </a:custGeom>
            <a:ln w="4763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77232" y="1661922"/>
            <a:ext cx="1558290" cy="9855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Safety</a:t>
            </a:r>
            <a:endParaRPr sz="1350">
              <a:latin typeface="Tahoma"/>
              <a:cs typeface="Tahoma"/>
            </a:endParaRPr>
          </a:p>
          <a:p>
            <a:pPr marL="12700" marR="5080" algn="just">
              <a:lnSpc>
                <a:spcPct val="132800"/>
              </a:lnSpc>
              <a:spcBef>
                <a:spcPts val="670"/>
              </a:spcBef>
            </a:pP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Prioritize</a:t>
            </a:r>
            <a:r>
              <a:rPr sz="11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human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life</a:t>
            </a:r>
            <a:r>
              <a:rPr sz="11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wellbeing</a:t>
            </a:r>
            <a:r>
              <a:rPr sz="110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above</a:t>
            </a:r>
            <a:r>
              <a:rPr sz="11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40" dirty="0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r>
              <a:rPr sz="11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Tahoma"/>
                <a:cs typeface="Tahoma"/>
              </a:rPr>
              <a:t>or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schedule</a:t>
            </a:r>
            <a:r>
              <a:rPr sz="1100" spc="1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pressures.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713886" y="1537366"/>
            <a:ext cx="1936750" cy="1511935"/>
            <a:chOff x="6713886" y="1537366"/>
            <a:chExt cx="1936750" cy="1511935"/>
          </a:xfrm>
        </p:grpSpPr>
        <p:sp>
          <p:nvSpPr>
            <p:cNvPr id="17" name="object 17"/>
            <p:cNvSpPr/>
            <p:nvPr/>
          </p:nvSpPr>
          <p:spPr>
            <a:xfrm>
              <a:off x="6716267" y="1539748"/>
              <a:ext cx="1931670" cy="1506855"/>
            </a:xfrm>
            <a:custGeom>
              <a:avLst/>
              <a:gdLst/>
              <a:ahLst/>
              <a:cxnLst/>
              <a:rect l="l" t="t" r="r" b="b"/>
              <a:pathLst>
                <a:path w="1931670" h="1506855">
                  <a:moveTo>
                    <a:pt x="1872106" y="0"/>
                  </a:moveTo>
                  <a:lnTo>
                    <a:pt x="59562" y="0"/>
                  </a:lnTo>
                  <a:lnTo>
                    <a:pt x="36379" y="4681"/>
                  </a:lnTo>
                  <a:lnTo>
                    <a:pt x="17446" y="17446"/>
                  </a:lnTo>
                  <a:lnTo>
                    <a:pt x="4681" y="36379"/>
                  </a:lnTo>
                  <a:lnTo>
                    <a:pt x="0" y="59562"/>
                  </a:lnTo>
                  <a:lnTo>
                    <a:pt x="0" y="1447291"/>
                  </a:lnTo>
                  <a:lnTo>
                    <a:pt x="4681" y="1470475"/>
                  </a:lnTo>
                  <a:lnTo>
                    <a:pt x="17446" y="1489408"/>
                  </a:lnTo>
                  <a:lnTo>
                    <a:pt x="36379" y="1502173"/>
                  </a:lnTo>
                  <a:lnTo>
                    <a:pt x="59562" y="1506854"/>
                  </a:lnTo>
                  <a:lnTo>
                    <a:pt x="1872106" y="1506854"/>
                  </a:lnTo>
                  <a:lnTo>
                    <a:pt x="1895290" y="1502173"/>
                  </a:lnTo>
                  <a:lnTo>
                    <a:pt x="1914223" y="1489408"/>
                  </a:lnTo>
                  <a:lnTo>
                    <a:pt x="1926988" y="1470475"/>
                  </a:lnTo>
                  <a:lnTo>
                    <a:pt x="1931670" y="1447291"/>
                  </a:lnTo>
                  <a:lnTo>
                    <a:pt x="1931670" y="59562"/>
                  </a:lnTo>
                  <a:lnTo>
                    <a:pt x="1926988" y="36379"/>
                  </a:lnTo>
                  <a:lnTo>
                    <a:pt x="1914223" y="17446"/>
                  </a:lnTo>
                  <a:lnTo>
                    <a:pt x="1895290" y="4681"/>
                  </a:lnTo>
                  <a:lnTo>
                    <a:pt x="1872106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16267" y="1539748"/>
              <a:ext cx="1931670" cy="1506855"/>
            </a:xfrm>
            <a:custGeom>
              <a:avLst/>
              <a:gdLst/>
              <a:ahLst/>
              <a:cxnLst/>
              <a:rect l="l" t="t" r="r" b="b"/>
              <a:pathLst>
                <a:path w="1931670" h="1506855">
                  <a:moveTo>
                    <a:pt x="0" y="59562"/>
                  </a:moveTo>
                  <a:lnTo>
                    <a:pt x="4681" y="36379"/>
                  </a:lnTo>
                  <a:lnTo>
                    <a:pt x="17446" y="17446"/>
                  </a:lnTo>
                  <a:lnTo>
                    <a:pt x="36379" y="4681"/>
                  </a:lnTo>
                  <a:lnTo>
                    <a:pt x="59562" y="0"/>
                  </a:lnTo>
                  <a:lnTo>
                    <a:pt x="1872106" y="0"/>
                  </a:lnTo>
                  <a:lnTo>
                    <a:pt x="1895290" y="4681"/>
                  </a:lnTo>
                  <a:lnTo>
                    <a:pt x="1914223" y="17446"/>
                  </a:lnTo>
                  <a:lnTo>
                    <a:pt x="1926988" y="36379"/>
                  </a:lnTo>
                  <a:lnTo>
                    <a:pt x="1931670" y="59562"/>
                  </a:lnTo>
                  <a:lnTo>
                    <a:pt x="1931670" y="1447291"/>
                  </a:lnTo>
                  <a:lnTo>
                    <a:pt x="1926988" y="1470475"/>
                  </a:lnTo>
                  <a:lnTo>
                    <a:pt x="1914223" y="1489408"/>
                  </a:lnTo>
                  <a:lnTo>
                    <a:pt x="1895290" y="1502173"/>
                  </a:lnTo>
                  <a:lnTo>
                    <a:pt x="1872106" y="1506854"/>
                  </a:lnTo>
                  <a:lnTo>
                    <a:pt x="59562" y="1506854"/>
                  </a:lnTo>
                  <a:lnTo>
                    <a:pt x="36379" y="1502173"/>
                  </a:lnTo>
                  <a:lnTo>
                    <a:pt x="17446" y="1489408"/>
                  </a:lnTo>
                  <a:lnTo>
                    <a:pt x="4681" y="1470475"/>
                  </a:lnTo>
                  <a:lnTo>
                    <a:pt x="0" y="1447291"/>
                  </a:lnTo>
                  <a:lnTo>
                    <a:pt x="0" y="59562"/>
                  </a:lnTo>
                  <a:close/>
                </a:path>
              </a:pathLst>
            </a:custGeom>
            <a:ln w="4763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851142" y="1661922"/>
            <a:ext cx="1604645" cy="9855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Fairness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800"/>
              </a:lnSpc>
              <a:spcBef>
                <a:spcPts val="670"/>
              </a:spcBef>
            </a:pP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Treat</a:t>
            </a:r>
            <a:r>
              <a:rPr sz="11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colleagues,</a:t>
            </a:r>
            <a:r>
              <a:rPr sz="11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clients,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7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vendors</a:t>
            </a:r>
            <a:r>
              <a:rPr sz="1100" spc="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impartially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respectfully.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3731" y="3185953"/>
            <a:ext cx="4010025" cy="1058545"/>
            <a:chOff x="493731" y="3185953"/>
            <a:chExt cx="4010025" cy="1058545"/>
          </a:xfrm>
        </p:grpSpPr>
        <p:sp>
          <p:nvSpPr>
            <p:cNvPr id="21" name="object 21"/>
            <p:cNvSpPr/>
            <p:nvPr/>
          </p:nvSpPr>
          <p:spPr>
            <a:xfrm>
              <a:off x="496112" y="3188334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3945458" y="0"/>
                  </a:moveTo>
                  <a:lnTo>
                    <a:pt x="59550" y="0"/>
                  </a:lnTo>
                  <a:lnTo>
                    <a:pt x="36374" y="4681"/>
                  </a:lnTo>
                  <a:lnTo>
                    <a:pt x="17445" y="17446"/>
                  </a:lnTo>
                  <a:lnTo>
                    <a:pt x="4680" y="36379"/>
                  </a:lnTo>
                  <a:lnTo>
                    <a:pt x="0" y="59562"/>
                  </a:lnTo>
                  <a:lnTo>
                    <a:pt x="0" y="993647"/>
                  </a:lnTo>
                  <a:lnTo>
                    <a:pt x="4680" y="1016822"/>
                  </a:lnTo>
                  <a:lnTo>
                    <a:pt x="17445" y="1035746"/>
                  </a:lnTo>
                  <a:lnTo>
                    <a:pt x="36374" y="1048506"/>
                  </a:lnTo>
                  <a:lnTo>
                    <a:pt x="59550" y="1053185"/>
                  </a:lnTo>
                  <a:lnTo>
                    <a:pt x="3945458" y="1053185"/>
                  </a:lnTo>
                  <a:lnTo>
                    <a:pt x="3968641" y="1048506"/>
                  </a:lnTo>
                  <a:lnTo>
                    <a:pt x="3987574" y="1035746"/>
                  </a:lnTo>
                  <a:lnTo>
                    <a:pt x="4000340" y="1016822"/>
                  </a:lnTo>
                  <a:lnTo>
                    <a:pt x="4005021" y="993647"/>
                  </a:lnTo>
                  <a:lnTo>
                    <a:pt x="4005021" y="59562"/>
                  </a:lnTo>
                  <a:lnTo>
                    <a:pt x="4000340" y="36379"/>
                  </a:lnTo>
                  <a:lnTo>
                    <a:pt x="3987574" y="17446"/>
                  </a:lnTo>
                  <a:lnTo>
                    <a:pt x="3968641" y="4681"/>
                  </a:lnTo>
                  <a:lnTo>
                    <a:pt x="3945458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6112" y="3188334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0" y="59562"/>
                  </a:moveTo>
                  <a:lnTo>
                    <a:pt x="4680" y="36379"/>
                  </a:lnTo>
                  <a:lnTo>
                    <a:pt x="17445" y="17446"/>
                  </a:lnTo>
                  <a:lnTo>
                    <a:pt x="36374" y="4681"/>
                  </a:lnTo>
                  <a:lnTo>
                    <a:pt x="59550" y="0"/>
                  </a:lnTo>
                  <a:lnTo>
                    <a:pt x="3945458" y="0"/>
                  </a:lnTo>
                  <a:lnTo>
                    <a:pt x="3968641" y="4681"/>
                  </a:lnTo>
                  <a:lnTo>
                    <a:pt x="3987574" y="17446"/>
                  </a:lnTo>
                  <a:lnTo>
                    <a:pt x="4000340" y="36379"/>
                  </a:lnTo>
                  <a:lnTo>
                    <a:pt x="4005021" y="59562"/>
                  </a:lnTo>
                  <a:lnTo>
                    <a:pt x="4005021" y="993647"/>
                  </a:lnTo>
                  <a:lnTo>
                    <a:pt x="4000340" y="1016822"/>
                  </a:lnTo>
                  <a:lnTo>
                    <a:pt x="3987574" y="1035746"/>
                  </a:lnTo>
                  <a:lnTo>
                    <a:pt x="3968641" y="1048506"/>
                  </a:lnTo>
                  <a:lnTo>
                    <a:pt x="3945458" y="1053185"/>
                  </a:lnTo>
                  <a:lnTo>
                    <a:pt x="59550" y="1053185"/>
                  </a:lnTo>
                  <a:lnTo>
                    <a:pt x="36374" y="1048506"/>
                  </a:lnTo>
                  <a:lnTo>
                    <a:pt x="17445" y="1035746"/>
                  </a:lnTo>
                  <a:lnTo>
                    <a:pt x="4680" y="1016822"/>
                  </a:lnTo>
                  <a:lnTo>
                    <a:pt x="0" y="993647"/>
                  </a:lnTo>
                  <a:lnTo>
                    <a:pt x="0" y="59562"/>
                  </a:lnTo>
                  <a:close/>
                </a:path>
              </a:pathLst>
            </a:custGeom>
            <a:ln w="4763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0123" y="3310585"/>
            <a:ext cx="3112770" cy="763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Confidentiality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900"/>
              </a:lnSpc>
              <a:spcBef>
                <a:spcPts val="670"/>
              </a:spcBef>
            </a:pP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Protect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sensitive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sz="11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client</a:t>
            </a:r>
            <a:r>
              <a:rPr sz="11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information appropriately.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640484" y="3185953"/>
            <a:ext cx="4010025" cy="1058545"/>
            <a:chOff x="4640484" y="3185953"/>
            <a:chExt cx="4010025" cy="1058545"/>
          </a:xfrm>
        </p:grpSpPr>
        <p:sp>
          <p:nvSpPr>
            <p:cNvPr id="25" name="object 25"/>
            <p:cNvSpPr/>
            <p:nvPr/>
          </p:nvSpPr>
          <p:spPr>
            <a:xfrm>
              <a:off x="4642866" y="3188334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3945509" y="0"/>
                  </a:moveTo>
                  <a:lnTo>
                    <a:pt x="59562" y="0"/>
                  </a:lnTo>
                  <a:lnTo>
                    <a:pt x="36379" y="4681"/>
                  </a:lnTo>
                  <a:lnTo>
                    <a:pt x="17446" y="17446"/>
                  </a:lnTo>
                  <a:lnTo>
                    <a:pt x="4681" y="36379"/>
                  </a:lnTo>
                  <a:lnTo>
                    <a:pt x="0" y="59562"/>
                  </a:lnTo>
                  <a:lnTo>
                    <a:pt x="0" y="993660"/>
                  </a:lnTo>
                  <a:lnTo>
                    <a:pt x="4681" y="1016842"/>
                  </a:lnTo>
                  <a:lnTo>
                    <a:pt x="17446" y="1035770"/>
                  </a:lnTo>
                  <a:lnTo>
                    <a:pt x="36379" y="1048531"/>
                  </a:lnTo>
                  <a:lnTo>
                    <a:pt x="59562" y="1053211"/>
                  </a:lnTo>
                  <a:lnTo>
                    <a:pt x="3945509" y="1053211"/>
                  </a:lnTo>
                  <a:lnTo>
                    <a:pt x="3968692" y="1048531"/>
                  </a:lnTo>
                  <a:lnTo>
                    <a:pt x="3987625" y="1035770"/>
                  </a:lnTo>
                  <a:lnTo>
                    <a:pt x="4000390" y="1016842"/>
                  </a:lnTo>
                  <a:lnTo>
                    <a:pt x="4005072" y="993660"/>
                  </a:lnTo>
                  <a:lnTo>
                    <a:pt x="4005072" y="59562"/>
                  </a:lnTo>
                  <a:lnTo>
                    <a:pt x="4000390" y="36379"/>
                  </a:lnTo>
                  <a:lnTo>
                    <a:pt x="3987625" y="17446"/>
                  </a:lnTo>
                  <a:lnTo>
                    <a:pt x="3968692" y="4681"/>
                  </a:lnTo>
                  <a:lnTo>
                    <a:pt x="3945509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42866" y="3188334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0" y="59562"/>
                  </a:moveTo>
                  <a:lnTo>
                    <a:pt x="4681" y="36379"/>
                  </a:lnTo>
                  <a:lnTo>
                    <a:pt x="17446" y="17446"/>
                  </a:lnTo>
                  <a:lnTo>
                    <a:pt x="36379" y="4681"/>
                  </a:lnTo>
                  <a:lnTo>
                    <a:pt x="59562" y="0"/>
                  </a:lnTo>
                  <a:lnTo>
                    <a:pt x="3945509" y="0"/>
                  </a:lnTo>
                  <a:lnTo>
                    <a:pt x="3968692" y="4681"/>
                  </a:lnTo>
                  <a:lnTo>
                    <a:pt x="3987625" y="17446"/>
                  </a:lnTo>
                  <a:lnTo>
                    <a:pt x="4000390" y="36379"/>
                  </a:lnTo>
                  <a:lnTo>
                    <a:pt x="4005072" y="59562"/>
                  </a:lnTo>
                  <a:lnTo>
                    <a:pt x="4005072" y="993660"/>
                  </a:lnTo>
                  <a:lnTo>
                    <a:pt x="4000390" y="1016842"/>
                  </a:lnTo>
                  <a:lnTo>
                    <a:pt x="3987625" y="1035770"/>
                  </a:lnTo>
                  <a:lnTo>
                    <a:pt x="3968692" y="1048531"/>
                  </a:lnTo>
                  <a:lnTo>
                    <a:pt x="3945509" y="1053211"/>
                  </a:lnTo>
                  <a:lnTo>
                    <a:pt x="59562" y="1053211"/>
                  </a:lnTo>
                  <a:lnTo>
                    <a:pt x="36379" y="1048531"/>
                  </a:lnTo>
                  <a:lnTo>
                    <a:pt x="17446" y="1035770"/>
                  </a:lnTo>
                  <a:lnTo>
                    <a:pt x="4681" y="1016842"/>
                  </a:lnTo>
                  <a:lnTo>
                    <a:pt x="0" y="993660"/>
                  </a:lnTo>
                  <a:lnTo>
                    <a:pt x="0" y="59562"/>
                  </a:lnTo>
                  <a:close/>
                </a:path>
              </a:pathLst>
            </a:custGeom>
            <a:ln w="4763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777232" y="3310585"/>
            <a:ext cx="3348990" cy="763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60" dirty="0">
                <a:solidFill>
                  <a:srgbClr val="272424"/>
                </a:solidFill>
                <a:latin typeface="Tahoma"/>
                <a:cs typeface="Tahoma"/>
              </a:rPr>
              <a:t>Professional</a:t>
            </a:r>
            <a:r>
              <a:rPr sz="1350" b="1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Competence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900"/>
              </a:lnSpc>
              <a:spcBef>
                <a:spcPts val="670"/>
              </a:spcBef>
            </a:pP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Maintain</a:t>
            </a:r>
            <a:r>
              <a:rPr sz="11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update</a:t>
            </a:r>
            <a:r>
              <a:rPr sz="11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skills through</a:t>
            </a:r>
            <a:r>
              <a:rPr sz="11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learning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272424"/>
                </a:solidFill>
                <a:latin typeface="Tahoma"/>
                <a:cs typeface="Tahoma"/>
              </a:rPr>
              <a:t>peer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review.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246" y="4594808"/>
            <a:ext cx="2857754" cy="54869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0" dirty="0"/>
              <a:t>Where</a:t>
            </a:r>
            <a:r>
              <a:rPr sz="2100" spc="-229" dirty="0"/>
              <a:t> </a:t>
            </a:r>
            <a:r>
              <a:rPr sz="2100" spc="-95" dirty="0"/>
              <a:t>Ethical</a:t>
            </a:r>
            <a:r>
              <a:rPr sz="2100" spc="-170" dirty="0"/>
              <a:t> </a:t>
            </a:r>
            <a:r>
              <a:rPr sz="2100" spc="-65" dirty="0"/>
              <a:t>Decisions</a:t>
            </a:r>
            <a:r>
              <a:rPr sz="2100" spc="-190" dirty="0"/>
              <a:t> </a:t>
            </a:r>
            <a:r>
              <a:rPr sz="2100" spc="-10" dirty="0"/>
              <a:t>Arise</a:t>
            </a:r>
            <a:endParaRPr sz="2100"/>
          </a:p>
        </p:txBody>
      </p:sp>
      <p:pic>
        <p:nvPicPr>
          <p:cNvPr id="4" name="object 4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112" y="1379486"/>
            <a:ext cx="5183251" cy="29155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01892" y="1159281"/>
            <a:ext cx="2605405" cy="23152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25425" indent="-212725">
              <a:lnSpc>
                <a:spcPct val="100000"/>
              </a:lnSpc>
              <a:spcBef>
                <a:spcPts val="480"/>
              </a:spcBef>
              <a:buChar char="•"/>
              <a:tabLst>
                <a:tab pos="225425" algn="l"/>
              </a:tabLst>
            </a:pP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Workplace</a:t>
            </a:r>
            <a:r>
              <a:rPr sz="105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safety</a:t>
            </a:r>
            <a:r>
              <a:rPr sz="105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05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hazard</a:t>
            </a:r>
            <a:r>
              <a:rPr sz="105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reporting</a:t>
            </a:r>
            <a:endParaRPr sz="1050">
              <a:latin typeface="Tahoma"/>
              <a:cs typeface="Tahoma"/>
            </a:endParaRPr>
          </a:p>
          <a:p>
            <a:pPr marL="225425" indent="-212725">
              <a:lnSpc>
                <a:spcPct val="100000"/>
              </a:lnSpc>
              <a:spcBef>
                <a:spcPts val="385"/>
              </a:spcBef>
              <a:buChar char="•"/>
              <a:tabLst>
                <a:tab pos="225425" algn="l"/>
              </a:tabLst>
            </a:pP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Product</a:t>
            </a:r>
            <a:r>
              <a:rPr sz="10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quality</a:t>
            </a:r>
            <a:r>
              <a:rPr sz="105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0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testing</a:t>
            </a:r>
            <a:r>
              <a:rPr sz="105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standards</a:t>
            </a:r>
            <a:endParaRPr sz="1050">
              <a:latin typeface="Tahoma"/>
              <a:cs typeface="Tahoma"/>
            </a:endParaRPr>
          </a:p>
          <a:p>
            <a:pPr marL="225425" indent="-212725">
              <a:lnSpc>
                <a:spcPct val="100000"/>
              </a:lnSpc>
              <a:spcBef>
                <a:spcPts val="370"/>
              </a:spcBef>
              <a:buChar char="•"/>
              <a:tabLst>
                <a:tab pos="225425" algn="l"/>
              </a:tabLst>
            </a:pP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sz="105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0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 security</a:t>
            </a:r>
            <a:endParaRPr sz="1050">
              <a:latin typeface="Tahoma"/>
              <a:cs typeface="Tahoma"/>
            </a:endParaRPr>
          </a:p>
          <a:p>
            <a:pPr marL="226060" marR="591185" indent="-213360">
              <a:lnSpc>
                <a:spcPct val="129700"/>
              </a:lnSpc>
              <a:spcBef>
                <a:spcPts val="10"/>
              </a:spcBef>
              <a:buChar char="•"/>
              <a:tabLst>
                <a:tab pos="226060" algn="l"/>
              </a:tabLst>
            </a:pP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Environmental</a:t>
            </a:r>
            <a:r>
              <a:rPr sz="1050" spc="8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protection</a:t>
            </a:r>
            <a:r>
              <a:rPr sz="105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25" dirty="0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sustainability</a:t>
            </a:r>
            <a:endParaRPr sz="1050">
              <a:latin typeface="Tahoma"/>
              <a:cs typeface="Tahoma"/>
            </a:endParaRPr>
          </a:p>
          <a:p>
            <a:pPr marL="225425" indent="-212725">
              <a:lnSpc>
                <a:spcPct val="100000"/>
              </a:lnSpc>
              <a:spcBef>
                <a:spcPts val="385"/>
              </a:spcBef>
              <a:buChar char="•"/>
              <a:tabLst>
                <a:tab pos="225425" algn="l"/>
              </a:tabLst>
            </a:pP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Responsible</a:t>
            </a:r>
            <a:r>
              <a:rPr sz="105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use</a:t>
            </a:r>
            <a:r>
              <a:rPr sz="105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105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20" dirty="0">
                <a:solidFill>
                  <a:srgbClr val="272424"/>
                </a:solidFill>
                <a:latin typeface="Tahoma"/>
                <a:cs typeface="Tahoma"/>
              </a:rPr>
              <a:t>AI</a:t>
            </a:r>
            <a:r>
              <a:rPr sz="105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05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automation</a:t>
            </a:r>
            <a:endParaRPr sz="1050">
              <a:latin typeface="Tahoma"/>
              <a:cs typeface="Tahoma"/>
            </a:endParaRPr>
          </a:p>
          <a:p>
            <a:pPr marL="226060" marR="229235" indent="-213360">
              <a:lnSpc>
                <a:spcPts val="1639"/>
              </a:lnSpc>
              <a:spcBef>
                <a:spcPts val="110"/>
              </a:spcBef>
              <a:buChar char="•"/>
              <a:tabLst>
                <a:tab pos="226060" algn="l"/>
              </a:tabLst>
            </a:pP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Handling</a:t>
            </a:r>
            <a:r>
              <a:rPr sz="1050" spc="8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confidential</a:t>
            </a:r>
            <a:r>
              <a:rPr sz="105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sz="1050" spc="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proprietary </a:t>
            </a:r>
            <a:r>
              <a:rPr sz="1050" spc="-20" dirty="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endParaRPr sz="1050">
              <a:latin typeface="Tahoma"/>
              <a:cs typeface="Tahoma"/>
            </a:endParaRPr>
          </a:p>
          <a:p>
            <a:pPr marL="225425" indent="-212725">
              <a:lnSpc>
                <a:spcPct val="100000"/>
              </a:lnSpc>
              <a:spcBef>
                <a:spcPts val="260"/>
              </a:spcBef>
              <a:buChar char="•"/>
              <a:tabLst>
                <a:tab pos="225425" algn="l"/>
              </a:tabLst>
            </a:pP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Reporting</a:t>
            </a:r>
            <a:r>
              <a:rPr sz="105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errors,</a:t>
            </a:r>
            <a:r>
              <a:rPr sz="105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defects,</a:t>
            </a:r>
            <a:r>
              <a:rPr sz="10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sz="105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20" dirty="0">
                <a:solidFill>
                  <a:srgbClr val="272424"/>
                </a:solidFill>
                <a:latin typeface="Tahoma"/>
                <a:cs typeface="Tahoma"/>
              </a:rPr>
              <a:t>near-</a:t>
            </a:r>
            <a:endParaRPr sz="1050">
              <a:latin typeface="Tahoma"/>
              <a:cs typeface="Tahoma"/>
            </a:endParaRPr>
          </a:p>
          <a:p>
            <a:pPr marL="226060">
              <a:lnSpc>
                <a:spcPct val="100000"/>
              </a:lnSpc>
              <a:spcBef>
                <a:spcPts val="385"/>
              </a:spcBef>
            </a:pP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misses</a:t>
            </a:r>
            <a:endParaRPr sz="1050">
              <a:latin typeface="Tahoma"/>
              <a:cs typeface="Tahoma"/>
            </a:endParaRPr>
          </a:p>
          <a:p>
            <a:pPr marL="225425" indent="-212725">
              <a:lnSpc>
                <a:spcPct val="100000"/>
              </a:lnSpc>
              <a:spcBef>
                <a:spcPts val="375"/>
              </a:spcBef>
              <a:buChar char="•"/>
              <a:tabLst>
                <a:tab pos="225425" algn="l"/>
              </a:tabLst>
            </a:pP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Avoiding</a:t>
            </a:r>
            <a:r>
              <a:rPr sz="105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conflicts</a:t>
            </a:r>
            <a:r>
              <a:rPr sz="105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105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interest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01892" y="3859174"/>
            <a:ext cx="2310765" cy="650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5"/>
              </a:spcBef>
            </a:pP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Example:</a:t>
            </a:r>
            <a:r>
              <a:rPr sz="105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Reporting</a:t>
            </a:r>
            <a:r>
              <a:rPr sz="105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sz="105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defect</a:t>
            </a:r>
            <a:r>
              <a:rPr sz="105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promptly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prevents</a:t>
            </a:r>
            <a:r>
              <a:rPr sz="105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accidents</a:t>
            </a:r>
            <a:r>
              <a:rPr sz="10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05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legal consequences.</a:t>
            </a:r>
            <a:endParaRPr sz="1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3428999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13123" y="387476"/>
            <a:ext cx="457263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/>
              <a:t>Case</a:t>
            </a:r>
            <a:r>
              <a:rPr sz="2150" spc="-240" dirty="0"/>
              <a:t> </a:t>
            </a:r>
            <a:r>
              <a:rPr sz="2150" spc="-70" dirty="0"/>
              <a:t>Study</a:t>
            </a:r>
            <a:r>
              <a:rPr sz="2150" spc="-240" dirty="0"/>
              <a:t> </a:t>
            </a:r>
            <a:r>
              <a:rPr sz="2150" spc="195" dirty="0"/>
              <a:t>—</a:t>
            </a:r>
            <a:r>
              <a:rPr sz="2150" spc="-210" dirty="0"/>
              <a:t> </a:t>
            </a:r>
            <a:r>
              <a:rPr sz="2150" spc="-60" dirty="0"/>
              <a:t>Unsafe</a:t>
            </a:r>
            <a:r>
              <a:rPr sz="2150" spc="-254" dirty="0"/>
              <a:t> </a:t>
            </a:r>
            <a:r>
              <a:rPr sz="2150" spc="-90" dirty="0"/>
              <a:t>Bridge</a:t>
            </a:r>
            <a:r>
              <a:rPr sz="2150" spc="-250" dirty="0"/>
              <a:t> </a:t>
            </a:r>
            <a:r>
              <a:rPr sz="2150" spc="-30" dirty="0"/>
              <a:t>Design</a:t>
            </a:r>
            <a:endParaRPr sz="2150"/>
          </a:p>
        </p:txBody>
      </p:sp>
      <p:sp>
        <p:nvSpPr>
          <p:cNvPr id="4" name="object 4"/>
          <p:cNvSpPr txBox="1"/>
          <p:nvPr/>
        </p:nvSpPr>
        <p:spPr>
          <a:xfrm>
            <a:off x="3913123" y="932839"/>
            <a:ext cx="4546600" cy="449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</a:pP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Situation:</a:t>
            </a:r>
            <a:r>
              <a:rPr sz="10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0" dirty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sz="1050" spc="8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designer</a:t>
            </a:r>
            <a:r>
              <a:rPr sz="1050" spc="8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finds</a:t>
            </a:r>
            <a:r>
              <a:rPr sz="10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sz="105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serious</a:t>
            </a:r>
            <a:r>
              <a:rPr sz="1050" spc="8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safety</a:t>
            </a:r>
            <a:r>
              <a:rPr sz="10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flaw.</a:t>
            </a:r>
            <a:r>
              <a:rPr sz="105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sz="1050" spc="1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pressures</a:t>
            </a:r>
            <a:r>
              <a:rPr sz="1050" spc="9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25" dirty="0">
                <a:solidFill>
                  <a:srgbClr val="272424"/>
                </a:solidFill>
                <a:latin typeface="Tahoma"/>
                <a:cs typeface="Tahoma"/>
              </a:rPr>
              <a:t>to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proceed</a:t>
            </a:r>
            <a:r>
              <a:rPr sz="105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05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avoid</a:t>
            </a:r>
            <a:r>
              <a:rPr sz="105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cost and</a:t>
            </a:r>
            <a:r>
              <a:rPr sz="105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delay.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09476" y="1572245"/>
            <a:ext cx="1515110" cy="2796540"/>
            <a:chOff x="3909476" y="1572245"/>
            <a:chExt cx="1515110" cy="2796540"/>
          </a:xfrm>
        </p:grpSpPr>
        <p:sp>
          <p:nvSpPr>
            <p:cNvPr id="6" name="object 6"/>
            <p:cNvSpPr/>
            <p:nvPr/>
          </p:nvSpPr>
          <p:spPr>
            <a:xfrm>
              <a:off x="3928415" y="1827561"/>
              <a:ext cx="1477645" cy="2522220"/>
            </a:xfrm>
            <a:custGeom>
              <a:avLst/>
              <a:gdLst/>
              <a:ahLst/>
              <a:cxnLst/>
              <a:rect l="l" t="t" r="r" b="b"/>
              <a:pathLst>
                <a:path w="1477645" h="2522220">
                  <a:moveTo>
                    <a:pt x="1477229" y="29530"/>
                  </a:moveTo>
                  <a:lnTo>
                    <a:pt x="1477229" y="2473240"/>
                  </a:lnTo>
                </a:path>
                <a:path w="1477645" h="2522220">
                  <a:moveTo>
                    <a:pt x="1428659" y="2521927"/>
                  </a:moveTo>
                  <a:lnTo>
                    <a:pt x="48558" y="2521928"/>
                  </a:lnTo>
                </a:path>
                <a:path w="1477645" h="2522220">
                  <a:moveTo>
                    <a:pt x="0" y="2473240"/>
                  </a:moveTo>
                  <a:lnTo>
                    <a:pt x="0" y="29530"/>
                  </a:lnTo>
                </a:path>
                <a:path w="1477645" h="2522220">
                  <a:moveTo>
                    <a:pt x="5851" y="474"/>
                  </a:moveTo>
                  <a:lnTo>
                    <a:pt x="6008" y="0"/>
                  </a:lnTo>
                </a:path>
              </a:pathLst>
            </a:custGeom>
            <a:ln w="37928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28414" y="1572247"/>
              <a:ext cx="1477645" cy="417830"/>
            </a:xfrm>
            <a:custGeom>
              <a:avLst/>
              <a:gdLst/>
              <a:ahLst/>
              <a:cxnLst/>
              <a:rect l="l" t="t" r="r" b="b"/>
              <a:pathLst>
                <a:path w="1477645" h="417830">
                  <a:moveTo>
                    <a:pt x="1477225" y="238607"/>
                  </a:moveTo>
                  <a:lnTo>
                    <a:pt x="1473403" y="219646"/>
                  </a:lnTo>
                  <a:lnTo>
                    <a:pt x="1463001" y="204165"/>
                  </a:lnTo>
                  <a:lnTo>
                    <a:pt x="1447558" y="193725"/>
                  </a:lnTo>
                  <a:lnTo>
                    <a:pt x="1428648" y="189903"/>
                  </a:lnTo>
                  <a:lnTo>
                    <a:pt x="944753" y="189903"/>
                  </a:lnTo>
                  <a:lnTo>
                    <a:pt x="941438" y="160997"/>
                  </a:lnTo>
                  <a:lnTo>
                    <a:pt x="925766" y="117030"/>
                  </a:lnTo>
                  <a:lnTo>
                    <a:pt x="901166" y="78244"/>
                  </a:lnTo>
                  <a:lnTo>
                    <a:pt x="868908" y="45897"/>
                  </a:lnTo>
                  <a:lnTo>
                    <a:pt x="830224" y="21234"/>
                  </a:lnTo>
                  <a:lnTo>
                    <a:pt x="786371" y="5524"/>
                  </a:lnTo>
                  <a:lnTo>
                    <a:pt x="738606" y="0"/>
                  </a:lnTo>
                  <a:lnTo>
                    <a:pt x="690841" y="5524"/>
                  </a:lnTo>
                  <a:lnTo>
                    <a:pt x="646988" y="21234"/>
                  </a:lnTo>
                  <a:lnTo>
                    <a:pt x="608317" y="45897"/>
                  </a:lnTo>
                  <a:lnTo>
                    <a:pt x="576046" y="78244"/>
                  </a:lnTo>
                  <a:lnTo>
                    <a:pt x="551459" y="117030"/>
                  </a:lnTo>
                  <a:lnTo>
                    <a:pt x="535787" y="160997"/>
                  </a:lnTo>
                  <a:lnTo>
                    <a:pt x="532460" y="189903"/>
                  </a:lnTo>
                  <a:lnTo>
                    <a:pt x="48552" y="189903"/>
                  </a:lnTo>
                  <a:lnTo>
                    <a:pt x="29654" y="193725"/>
                  </a:lnTo>
                  <a:lnTo>
                    <a:pt x="14211" y="204165"/>
                  </a:lnTo>
                  <a:lnTo>
                    <a:pt x="3810" y="219646"/>
                  </a:lnTo>
                  <a:lnTo>
                    <a:pt x="0" y="238607"/>
                  </a:lnTo>
                  <a:lnTo>
                    <a:pt x="0" y="265861"/>
                  </a:lnTo>
                  <a:lnTo>
                    <a:pt x="539013" y="265861"/>
                  </a:lnTo>
                  <a:lnTo>
                    <a:pt x="551459" y="300748"/>
                  </a:lnTo>
                  <a:lnTo>
                    <a:pt x="576046" y="339534"/>
                  </a:lnTo>
                  <a:lnTo>
                    <a:pt x="608317" y="371894"/>
                  </a:lnTo>
                  <a:lnTo>
                    <a:pt x="646988" y="396544"/>
                  </a:lnTo>
                  <a:lnTo>
                    <a:pt x="690841" y="412267"/>
                  </a:lnTo>
                  <a:lnTo>
                    <a:pt x="738606" y="417779"/>
                  </a:lnTo>
                  <a:lnTo>
                    <a:pt x="786371" y="412267"/>
                  </a:lnTo>
                  <a:lnTo>
                    <a:pt x="830224" y="396544"/>
                  </a:lnTo>
                  <a:lnTo>
                    <a:pt x="868908" y="371894"/>
                  </a:lnTo>
                  <a:lnTo>
                    <a:pt x="901166" y="339534"/>
                  </a:lnTo>
                  <a:lnTo>
                    <a:pt x="925766" y="300748"/>
                  </a:lnTo>
                  <a:lnTo>
                    <a:pt x="938199" y="265861"/>
                  </a:lnTo>
                  <a:lnTo>
                    <a:pt x="1477225" y="265861"/>
                  </a:lnTo>
                  <a:lnTo>
                    <a:pt x="1477225" y="238607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0735" y="1700946"/>
              <a:ext cx="132194" cy="15552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071620" y="2102866"/>
            <a:ext cx="1171575" cy="158623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165735">
              <a:lnSpc>
                <a:spcPct val="104400"/>
              </a:lnSpc>
              <a:spcBef>
                <a:spcPts val="35"/>
              </a:spcBef>
            </a:pPr>
            <a:r>
              <a:rPr sz="1350" b="1" spc="-155" dirty="0">
                <a:solidFill>
                  <a:srgbClr val="272424"/>
                </a:solidFill>
                <a:latin typeface="Tahoma"/>
                <a:cs typeface="Tahoma"/>
              </a:rPr>
              <a:t>1.</a:t>
            </a:r>
            <a:r>
              <a:rPr sz="1350" b="1" spc="-1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75" dirty="0">
                <a:solidFill>
                  <a:srgbClr val="272424"/>
                </a:solidFill>
                <a:latin typeface="Tahoma"/>
                <a:cs typeface="Tahoma"/>
              </a:rPr>
              <a:t>Report</a:t>
            </a:r>
            <a:r>
              <a:rPr sz="1350" b="1" spc="-1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60" dirty="0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Issue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Document</a:t>
            </a:r>
            <a:r>
              <a:rPr sz="105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sz="105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20" dirty="0">
                <a:solidFill>
                  <a:srgbClr val="272424"/>
                </a:solidFill>
                <a:latin typeface="Tahoma"/>
                <a:cs typeface="Tahoma"/>
              </a:rPr>
              <a:t>flaw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05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notify</a:t>
            </a:r>
            <a:r>
              <a:rPr sz="1050" spc="-25" dirty="0">
                <a:solidFill>
                  <a:srgbClr val="272424"/>
                </a:solidFill>
                <a:latin typeface="Tahoma"/>
                <a:cs typeface="Tahoma"/>
              </a:rPr>
              <a:t> the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responsible authorities immediately.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29487" y="1572245"/>
            <a:ext cx="1515745" cy="2796540"/>
            <a:chOff x="5529487" y="1572245"/>
            <a:chExt cx="1515745" cy="2796540"/>
          </a:xfrm>
        </p:grpSpPr>
        <p:sp>
          <p:nvSpPr>
            <p:cNvPr id="11" name="object 11"/>
            <p:cNvSpPr/>
            <p:nvPr/>
          </p:nvSpPr>
          <p:spPr>
            <a:xfrm>
              <a:off x="5548427" y="1827561"/>
              <a:ext cx="1477645" cy="2522220"/>
            </a:xfrm>
            <a:custGeom>
              <a:avLst/>
              <a:gdLst/>
              <a:ahLst/>
              <a:cxnLst/>
              <a:rect l="l" t="t" r="r" b="b"/>
              <a:pathLst>
                <a:path w="1477645" h="2522220">
                  <a:moveTo>
                    <a:pt x="1477320" y="29530"/>
                  </a:moveTo>
                  <a:lnTo>
                    <a:pt x="1477320" y="2473240"/>
                  </a:lnTo>
                </a:path>
                <a:path w="1477645" h="2522220">
                  <a:moveTo>
                    <a:pt x="1428747" y="2521927"/>
                  </a:moveTo>
                  <a:lnTo>
                    <a:pt x="48561" y="2521928"/>
                  </a:lnTo>
                </a:path>
                <a:path w="1477645" h="2522220">
                  <a:moveTo>
                    <a:pt x="0" y="2473240"/>
                  </a:moveTo>
                  <a:lnTo>
                    <a:pt x="0" y="29530"/>
                  </a:lnTo>
                </a:path>
                <a:path w="1477645" h="2522220">
                  <a:moveTo>
                    <a:pt x="5851" y="474"/>
                  </a:moveTo>
                  <a:lnTo>
                    <a:pt x="6009" y="0"/>
                  </a:lnTo>
                </a:path>
              </a:pathLst>
            </a:custGeom>
            <a:ln w="37929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48426" y="1572247"/>
              <a:ext cx="1477645" cy="417830"/>
            </a:xfrm>
            <a:custGeom>
              <a:avLst/>
              <a:gdLst/>
              <a:ahLst/>
              <a:cxnLst/>
              <a:rect l="l" t="t" r="r" b="b"/>
              <a:pathLst>
                <a:path w="1477645" h="417830">
                  <a:moveTo>
                    <a:pt x="1477314" y="238607"/>
                  </a:moveTo>
                  <a:lnTo>
                    <a:pt x="1473504" y="219646"/>
                  </a:lnTo>
                  <a:lnTo>
                    <a:pt x="1463090" y="204165"/>
                  </a:lnTo>
                  <a:lnTo>
                    <a:pt x="1447647" y="193725"/>
                  </a:lnTo>
                  <a:lnTo>
                    <a:pt x="1428737" y="189903"/>
                  </a:lnTo>
                  <a:lnTo>
                    <a:pt x="944803" y="189903"/>
                  </a:lnTo>
                  <a:lnTo>
                    <a:pt x="941489" y="160997"/>
                  </a:lnTo>
                  <a:lnTo>
                    <a:pt x="925817" y="117030"/>
                  </a:lnTo>
                  <a:lnTo>
                    <a:pt x="901230" y="78244"/>
                  </a:lnTo>
                  <a:lnTo>
                    <a:pt x="868959" y="45897"/>
                  </a:lnTo>
                  <a:lnTo>
                    <a:pt x="830275" y="21234"/>
                  </a:lnTo>
                  <a:lnTo>
                    <a:pt x="786422" y="5524"/>
                  </a:lnTo>
                  <a:lnTo>
                    <a:pt x="738657" y="0"/>
                  </a:lnTo>
                  <a:lnTo>
                    <a:pt x="690880" y="5524"/>
                  </a:lnTo>
                  <a:lnTo>
                    <a:pt x="647039" y="21234"/>
                  </a:lnTo>
                  <a:lnTo>
                    <a:pt x="608355" y="45897"/>
                  </a:lnTo>
                  <a:lnTo>
                    <a:pt x="576084" y="78244"/>
                  </a:lnTo>
                  <a:lnTo>
                    <a:pt x="551497" y="117030"/>
                  </a:lnTo>
                  <a:lnTo>
                    <a:pt x="535813" y="160997"/>
                  </a:lnTo>
                  <a:lnTo>
                    <a:pt x="532485" y="189903"/>
                  </a:lnTo>
                  <a:lnTo>
                    <a:pt x="48552" y="189903"/>
                  </a:lnTo>
                  <a:lnTo>
                    <a:pt x="29654" y="193725"/>
                  </a:lnTo>
                  <a:lnTo>
                    <a:pt x="14224" y="204165"/>
                  </a:lnTo>
                  <a:lnTo>
                    <a:pt x="3810" y="219646"/>
                  </a:lnTo>
                  <a:lnTo>
                    <a:pt x="0" y="238607"/>
                  </a:lnTo>
                  <a:lnTo>
                    <a:pt x="0" y="265861"/>
                  </a:lnTo>
                  <a:lnTo>
                    <a:pt x="539051" y="265861"/>
                  </a:lnTo>
                  <a:lnTo>
                    <a:pt x="551497" y="300748"/>
                  </a:lnTo>
                  <a:lnTo>
                    <a:pt x="576084" y="339534"/>
                  </a:lnTo>
                  <a:lnTo>
                    <a:pt x="608355" y="371894"/>
                  </a:lnTo>
                  <a:lnTo>
                    <a:pt x="647039" y="396544"/>
                  </a:lnTo>
                  <a:lnTo>
                    <a:pt x="690880" y="412267"/>
                  </a:lnTo>
                  <a:lnTo>
                    <a:pt x="738657" y="417779"/>
                  </a:lnTo>
                  <a:lnTo>
                    <a:pt x="786422" y="412267"/>
                  </a:lnTo>
                  <a:lnTo>
                    <a:pt x="830275" y="396544"/>
                  </a:lnTo>
                  <a:lnTo>
                    <a:pt x="868959" y="371894"/>
                  </a:lnTo>
                  <a:lnTo>
                    <a:pt x="901230" y="339534"/>
                  </a:lnTo>
                  <a:lnTo>
                    <a:pt x="925817" y="300748"/>
                  </a:lnTo>
                  <a:lnTo>
                    <a:pt x="938250" y="265861"/>
                  </a:lnTo>
                  <a:lnTo>
                    <a:pt x="1477314" y="265861"/>
                  </a:lnTo>
                  <a:lnTo>
                    <a:pt x="1477314" y="238607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6826" y="1700996"/>
              <a:ext cx="140458" cy="15547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691885" y="2102866"/>
            <a:ext cx="1067435" cy="2016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236854" algn="just">
              <a:lnSpc>
                <a:spcPct val="104099"/>
              </a:lnSpc>
              <a:spcBef>
                <a:spcPts val="40"/>
              </a:spcBef>
            </a:pPr>
            <a:r>
              <a:rPr sz="1350" b="1" spc="-90" dirty="0">
                <a:solidFill>
                  <a:srgbClr val="272424"/>
                </a:solidFill>
                <a:latin typeface="Tahoma"/>
                <a:cs typeface="Tahoma"/>
              </a:rPr>
              <a:t>2.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272424"/>
                </a:solidFill>
                <a:latin typeface="Tahoma"/>
                <a:cs typeface="Tahoma"/>
              </a:rPr>
              <a:t>Provide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Technical Evidence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000"/>
              </a:lnSpc>
              <a:spcBef>
                <a:spcPts val="690"/>
              </a:spcBef>
            </a:pP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Supply calculations,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simulations,</a:t>
            </a:r>
            <a:r>
              <a:rPr sz="105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25" dirty="0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05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assessments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05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support</a:t>
            </a:r>
            <a:r>
              <a:rPr sz="10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20" dirty="0">
                <a:solidFill>
                  <a:srgbClr val="272424"/>
                </a:solidFill>
                <a:latin typeface="Tahoma"/>
                <a:cs typeface="Tahoma"/>
              </a:rPr>
              <a:t>your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claim.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49626" y="1572245"/>
            <a:ext cx="1515745" cy="2796540"/>
            <a:chOff x="7149626" y="1572245"/>
            <a:chExt cx="1515745" cy="2796540"/>
          </a:xfrm>
        </p:grpSpPr>
        <p:sp>
          <p:nvSpPr>
            <p:cNvPr id="16" name="object 16"/>
            <p:cNvSpPr/>
            <p:nvPr/>
          </p:nvSpPr>
          <p:spPr>
            <a:xfrm>
              <a:off x="7168566" y="1827561"/>
              <a:ext cx="1477645" cy="2522220"/>
            </a:xfrm>
            <a:custGeom>
              <a:avLst/>
              <a:gdLst/>
              <a:ahLst/>
              <a:cxnLst/>
              <a:rect l="l" t="t" r="r" b="b"/>
              <a:pathLst>
                <a:path w="1477645" h="2522220">
                  <a:moveTo>
                    <a:pt x="1477320" y="29530"/>
                  </a:moveTo>
                  <a:lnTo>
                    <a:pt x="1477320" y="2473240"/>
                  </a:lnTo>
                </a:path>
                <a:path w="1477645" h="2522220">
                  <a:moveTo>
                    <a:pt x="1428747" y="2521927"/>
                  </a:moveTo>
                  <a:lnTo>
                    <a:pt x="48562" y="2521928"/>
                  </a:lnTo>
                </a:path>
                <a:path w="1477645" h="2522220">
                  <a:moveTo>
                    <a:pt x="0" y="2473240"/>
                  </a:moveTo>
                  <a:lnTo>
                    <a:pt x="0" y="29530"/>
                  </a:lnTo>
                </a:path>
                <a:path w="1477645" h="2522220">
                  <a:moveTo>
                    <a:pt x="5851" y="474"/>
                  </a:moveTo>
                  <a:lnTo>
                    <a:pt x="6009" y="0"/>
                  </a:lnTo>
                </a:path>
              </a:pathLst>
            </a:custGeom>
            <a:ln w="37929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68566" y="1572247"/>
              <a:ext cx="1477645" cy="417830"/>
            </a:xfrm>
            <a:custGeom>
              <a:avLst/>
              <a:gdLst/>
              <a:ahLst/>
              <a:cxnLst/>
              <a:rect l="l" t="t" r="r" b="b"/>
              <a:pathLst>
                <a:path w="1477645" h="417830">
                  <a:moveTo>
                    <a:pt x="1477314" y="238607"/>
                  </a:moveTo>
                  <a:lnTo>
                    <a:pt x="1473492" y="219646"/>
                  </a:lnTo>
                  <a:lnTo>
                    <a:pt x="1463090" y="204165"/>
                  </a:lnTo>
                  <a:lnTo>
                    <a:pt x="1447647" y="193725"/>
                  </a:lnTo>
                  <a:lnTo>
                    <a:pt x="1428737" y="189903"/>
                  </a:lnTo>
                  <a:lnTo>
                    <a:pt x="944803" y="189903"/>
                  </a:lnTo>
                  <a:lnTo>
                    <a:pt x="941489" y="160997"/>
                  </a:lnTo>
                  <a:lnTo>
                    <a:pt x="925817" y="117030"/>
                  </a:lnTo>
                  <a:lnTo>
                    <a:pt x="901217" y="78244"/>
                  </a:lnTo>
                  <a:lnTo>
                    <a:pt x="868959" y="45897"/>
                  </a:lnTo>
                  <a:lnTo>
                    <a:pt x="830275" y="21234"/>
                  </a:lnTo>
                  <a:lnTo>
                    <a:pt x="786422" y="5524"/>
                  </a:lnTo>
                  <a:lnTo>
                    <a:pt x="738657" y="0"/>
                  </a:lnTo>
                  <a:lnTo>
                    <a:pt x="690880" y="5524"/>
                  </a:lnTo>
                  <a:lnTo>
                    <a:pt x="647026" y="21234"/>
                  </a:lnTo>
                  <a:lnTo>
                    <a:pt x="608355" y="45897"/>
                  </a:lnTo>
                  <a:lnTo>
                    <a:pt x="576084" y="78244"/>
                  </a:lnTo>
                  <a:lnTo>
                    <a:pt x="551484" y="117030"/>
                  </a:lnTo>
                  <a:lnTo>
                    <a:pt x="535813" y="160997"/>
                  </a:lnTo>
                  <a:lnTo>
                    <a:pt x="532485" y="189903"/>
                  </a:lnTo>
                  <a:lnTo>
                    <a:pt x="48552" y="189903"/>
                  </a:lnTo>
                  <a:lnTo>
                    <a:pt x="29654" y="193725"/>
                  </a:lnTo>
                  <a:lnTo>
                    <a:pt x="14211" y="204165"/>
                  </a:lnTo>
                  <a:lnTo>
                    <a:pt x="3810" y="219646"/>
                  </a:lnTo>
                  <a:lnTo>
                    <a:pt x="0" y="238607"/>
                  </a:lnTo>
                  <a:lnTo>
                    <a:pt x="0" y="265861"/>
                  </a:lnTo>
                  <a:lnTo>
                    <a:pt x="539038" y="265861"/>
                  </a:lnTo>
                  <a:lnTo>
                    <a:pt x="551484" y="300748"/>
                  </a:lnTo>
                  <a:lnTo>
                    <a:pt x="576084" y="339534"/>
                  </a:lnTo>
                  <a:lnTo>
                    <a:pt x="608355" y="371894"/>
                  </a:lnTo>
                  <a:lnTo>
                    <a:pt x="647026" y="396544"/>
                  </a:lnTo>
                  <a:lnTo>
                    <a:pt x="690880" y="412267"/>
                  </a:lnTo>
                  <a:lnTo>
                    <a:pt x="738657" y="417779"/>
                  </a:lnTo>
                  <a:lnTo>
                    <a:pt x="786422" y="412267"/>
                  </a:lnTo>
                  <a:lnTo>
                    <a:pt x="830275" y="396544"/>
                  </a:lnTo>
                  <a:lnTo>
                    <a:pt x="868959" y="371894"/>
                  </a:lnTo>
                  <a:lnTo>
                    <a:pt x="901217" y="339534"/>
                  </a:lnTo>
                  <a:lnTo>
                    <a:pt x="925817" y="300748"/>
                  </a:lnTo>
                  <a:lnTo>
                    <a:pt x="938250" y="265861"/>
                  </a:lnTo>
                  <a:lnTo>
                    <a:pt x="1477314" y="265861"/>
                  </a:lnTo>
                  <a:lnTo>
                    <a:pt x="1477314" y="238607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29211" y="1700980"/>
              <a:ext cx="155938" cy="15551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312279" y="2102866"/>
            <a:ext cx="1140460" cy="158623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67945">
              <a:lnSpc>
                <a:spcPct val="104400"/>
              </a:lnSpc>
              <a:spcBef>
                <a:spcPts val="35"/>
              </a:spcBef>
            </a:pP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3.</a:t>
            </a:r>
            <a:r>
              <a:rPr sz="1350" b="1" spc="-1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Prioritize </a:t>
            </a:r>
            <a:r>
              <a:rPr sz="1350" b="1" spc="-50" dirty="0">
                <a:solidFill>
                  <a:srgbClr val="272424"/>
                </a:solidFill>
                <a:latin typeface="Tahoma"/>
                <a:cs typeface="Tahoma"/>
              </a:rPr>
              <a:t>Public</a:t>
            </a:r>
            <a:r>
              <a:rPr sz="1350" b="1" spc="-1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35" dirty="0">
                <a:solidFill>
                  <a:srgbClr val="272424"/>
                </a:solidFill>
                <a:latin typeface="Tahoma"/>
                <a:cs typeface="Tahoma"/>
              </a:rPr>
              <a:t>Safety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Refuse</a:t>
            </a:r>
            <a:r>
              <a:rPr sz="105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0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approve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unsafe</a:t>
            </a:r>
            <a:r>
              <a:rPr sz="1050" spc="1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work;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suggest</a:t>
            </a:r>
            <a:r>
              <a:rPr sz="1050" spc="18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safe,</a:t>
            </a:r>
            <a:r>
              <a:rPr sz="1050" spc="5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72424"/>
                </a:solidFill>
                <a:latin typeface="Tahoma"/>
                <a:cs typeface="Tahoma"/>
              </a:rPr>
              <a:t>cost-</a:t>
            </a:r>
            <a:r>
              <a:rPr sz="1050" spc="-10" dirty="0">
                <a:solidFill>
                  <a:srgbClr val="272424"/>
                </a:solidFill>
                <a:latin typeface="Tahoma"/>
                <a:cs typeface="Tahoma"/>
              </a:rPr>
              <a:t>aware alternatives.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02679" y="4594808"/>
            <a:ext cx="2857754" cy="548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246" y="4522438"/>
            <a:ext cx="2857754" cy="54868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3514" y="955674"/>
            <a:ext cx="49085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How</a:t>
            </a:r>
            <a:r>
              <a:rPr spc="-200" dirty="0"/>
              <a:t> </a:t>
            </a:r>
            <a:r>
              <a:rPr spc="-114" dirty="0"/>
              <a:t>to</a:t>
            </a:r>
            <a:r>
              <a:rPr spc="-225" dirty="0"/>
              <a:t> </a:t>
            </a:r>
            <a:r>
              <a:rPr dirty="0"/>
              <a:t>Act</a:t>
            </a:r>
            <a:r>
              <a:rPr spc="-215" dirty="0"/>
              <a:t> </a:t>
            </a:r>
            <a:r>
              <a:rPr spc="-105" dirty="0"/>
              <a:t>Ethically</a:t>
            </a:r>
            <a:r>
              <a:rPr spc="-160" dirty="0"/>
              <a:t> </a:t>
            </a:r>
            <a:r>
              <a:rPr spc="180" dirty="0"/>
              <a:t>—</a:t>
            </a:r>
            <a:r>
              <a:rPr spc="-220" dirty="0"/>
              <a:t> </a:t>
            </a:r>
            <a:r>
              <a:rPr spc="-90" dirty="0"/>
              <a:t>Practical</a:t>
            </a:r>
            <a:r>
              <a:rPr spc="-160" dirty="0"/>
              <a:t> </a:t>
            </a:r>
            <a:r>
              <a:rPr spc="-10" dirty="0"/>
              <a:t>Steps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3514" y="1606041"/>
            <a:ext cx="1600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272424"/>
                </a:solidFill>
                <a:latin typeface="Calibri"/>
                <a:cs typeface="Calibri"/>
              </a:rPr>
              <a:t>01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6112" y="1844420"/>
            <a:ext cx="2623185" cy="19050"/>
          </a:xfrm>
          <a:custGeom>
            <a:avLst/>
            <a:gdLst/>
            <a:ahLst/>
            <a:cxnLst/>
            <a:rect l="l" t="t" r="r" b="b"/>
            <a:pathLst>
              <a:path w="2623185" h="19050">
                <a:moveTo>
                  <a:pt x="2622677" y="0"/>
                </a:moveTo>
                <a:lnTo>
                  <a:pt x="0" y="0"/>
                </a:lnTo>
                <a:lnTo>
                  <a:pt x="0" y="19050"/>
                </a:lnTo>
                <a:lnTo>
                  <a:pt x="2622677" y="19050"/>
                </a:lnTo>
                <a:lnTo>
                  <a:pt x="2622677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3514" y="1929130"/>
            <a:ext cx="2400300" cy="76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55" dirty="0">
                <a:solidFill>
                  <a:srgbClr val="272424"/>
                </a:solidFill>
                <a:latin typeface="Tahoma"/>
                <a:cs typeface="Tahoma"/>
              </a:rPr>
              <a:t>Speak</a:t>
            </a:r>
            <a:r>
              <a:rPr sz="1350" b="1" spc="-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35" dirty="0">
                <a:solidFill>
                  <a:srgbClr val="272424"/>
                </a:solidFill>
                <a:latin typeface="Tahoma"/>
                <a:cs typeface="Tahoma"/>
              </a:rPr>
              <a:t>Up</a:t>
            </a:r>
            <a:r>
              <a:rPr sz="1350" b="1" spc="-1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20" dirty="0">
                <a:solidFill>
                  <a:srgbClr val="272424"/>
                </a:solidFill>
                <a:latin typeface="Tahoma"/>
                <a:cs typeface="Tahoma"/>
              </a:rPr>
              <a:t>Early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675"/>
              </a:spcBef>
            </a:pP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Report</a:t>
            </a:r>
            <a:r>
              <a:rPr sz="110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272424"/>
                </a:solidFill>
                <a:latin typeface="Tahoma"/>
                <a:cs typeface="Tahoma"/>
              </a:rPr>
              <a:t>concerns</a:t>
            </a:r>
            <a:r>
              <a:rPr sz="1100" spc="-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through</a:t>
            </a:r>
            <a:r>
              <a:rPr sz="11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proper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channels;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use</a:t>
            </a:r>
            <a:r>
              <a:rPr sz="11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documented</a:t>
            </a:r>
            <a:r>
              <a:rPr sz="11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evidence.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8405" y="1606041"/>
            <a:ext cx="1600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272424"/>
                </a:solidFill>
                <a:latin typeface="Calibri"/>
                <a:cs typeface="Calibri"/>
              </a:rPr>
              <a:t>02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60597" y="1844420"/>
            <a:ext cx="2623185" cy="19050"/>
          </a:xfrm>
          <a:custGeom>
            <a:avLst/>
            <a:gdLst/>
            <a:ahLst/>
            <a:cxnLst/>
            <a:rect l="l" t="t" r="r" b="b"/>
            <a:pathLst>
              <a:path w="2623185" h="19050">
                <a:moveTo>
                  <a:pt x="2622677" y="0"/>
                </a:moveTo>
                <a:lnTo>
                  <a:pt x="0" y="0"/>
                </a:lnTo>
                <a:lnTo>
                  <a:pt x="0" y="19050"/>
                </a:lnTo>
                <a:lnTo>
                  <a:pt x="2622677" y="19050"/>
                </a:lnTo>
                <a:lnTo>
                  <a:pt x="2622677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48405" y="1929130"/>
            <a:ext cx="2253615" cy="76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55" dirty="0">
                <a:solidFill>
                  <a:srgbClr val="272424"/>
                </a:solidFill>
                <a:latin typeface="Tahoma"/>
                <a:cs typeface="Tahoma"/>
              </a:rPr>
              <a:t>Consult</a:t>
            </a:r>
            <a:r>
              <a:rPr sz="1350" b="1" spc="-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Standards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675"/>
              </a:spcBef>
            </a:pP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Refer to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272424"/>
                </a:solidFill>
                <a:latin typeface="Tahoma"/>
                <a:cs typeface="Tahoma"/>
              </a:rPr>
              <a:t>codes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 of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conduct,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national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standards,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company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policies.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3196" y="1606041"/>
            <a:ext cx="1600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272424"/>
                </a:solidFill>
                <a:latin typeface="Calibri"/>
                <a:cs typeface="Calibri"/>
              </a:rPr>
              <a:t>03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25134" y="1844420"/>
            <a:ext cx="2623185" cy="19050"/>
          </a:xfrm>
          <a:custGeom>
            <a:avLst/>
            <a:gdLst/>
            <a:ahLst/>
            <a:cxnLst/>
            <a:rect l="l" t="t" r="r" b="b"/>
            <a:pathLst>
              <a:path w="2623184" h="19050">
                <a:moveTo>
                  <a:pt x="2622677" y="0"/>
                </a:moveTo>
                <a:lnTo>
                  <a:pt x="0" y="0"/>
                </a:lnTo>
                <a:lnTo>
                  <a:pt x="0" y="19050"/>
                </a:lnTo>
                <a:lnTo>
                  <a:pt x="2622677" y="19050"/>
                </a:lnTo>
                <a:lnTo>
                  <a:pt x="2622677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13196" y="1929130"/>
            <a:ext cx="2394585" cy="76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45" dirty="0">
                <a:solidFill>
                  <a:srgbClr val="272424"/>
                </a:solidFill>
                <a:latin typeface="Tahoma"/>
                <a:cs typeface="Tahoma"/>
              </a:rPr>
              <a:t>Seek</a:t>
            </a:r>
            <a:r>
              <a:rPr sz="1350" b="1" spc="-1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72424"/>
                </a:solidFill>
                <a:latin typeface="Tahoma"/>
                <a:cs typeface="Tahoma"/>
              </a:rPr>
              <a:t>Peer</a:t>
            </a:r>
            <a:r>
              <a:rPr sz="1350" b="1" spc="-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Review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675"/>
              </a:spcBef>
            </a:pP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Involve</a:t>
            </a:r>
            <a:r>
              <a:rPr sz="110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colleagues</a:t>
            </a:r>
            <a:r>
              <a:rPr sz="110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sz="11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sz="11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independent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expert</a:t>
            </a:r>
            <a:r>
              <a:rPr sz="11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sz="11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doubt.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3514" y="2945384"/>
            <a:ext cx="1600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272424"/>
                </a:solidFill>
                <a:latin typeface="Calibri"/>
                <a:cs typeface="Calibri"/>
              </a:rPr>
              <a:t>04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6112" y="3183382"/>
            <a:ext cx="4004945" cy="19050"/>
          </a:xfrm>
          <a:custGeom>
            <a:avLst/>
            <a:gdLst/>
            <a:ahLst/>
            <a:cxnLst/>
            <a:rect l="l" t="t" r="r" b="b"/>
            <a:pathLst>
              <a:path w="4004945" h="19050">
                <a:moveTo>
                  <a:pt x="4004945" y="0"/>
                </a:moveTo>
                <a:lnTo>
                  <a:pt x="0" y="0"/>
                </a:lnTo>
                <a:lnTo>
                  <a:pt x="0" y="19050"/>
                </a:lnTo>
                <a:lnTo>
                  <a:pt x="4004945" y="19050"/>
                </a:lnTo>
                <a:lnTo>
                  <a:pt x="4004945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3514" y="3268471"/>
            <a:ext cx="3726815" cy="76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75" dirty="0">
                <a:solidFill>
                  <a:srgbClr val="272424"/>
                </a:solidFill>
                <a:latin typeface="Tahoma"/>
                <a:cs typeface="Tahoma"/>
              </a:rPr>
              <a:t>Document</a:t>
            </a:r>
            <a:r>
              <a:rPr sz="1350" b="1" spc="-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45" dirty="0">
                <a:solidFill>
                  <a:srgbClr val="272424"/>
                </a:solidFill>
                <a:latin typeface="Tahoma"/>
                <a:cs typeface="Tahoma"/>
              </a:rPr>
              <a:t>Your</a:t>
            </a:r>
            <a:r>
              <a:rPr sz="1350" b="1" spc="-9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Actions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800"/>
              </a:lnSpc>
              <a:spcBef>
                <a:spcPts val="670"/>
              </a:spcBef>
            </a:pPr>
            <a:r>
              <a:rPr sz="1100" spc="50" dirty="0">
                <a:solidFill>
                  <a:srgbClr val="272424"/>
                </a:solidFill>
                <a:latin typeface="Tahoma"/>
                <a:cs typeface="Tahoma"/>
              </a:rPr>
              <a:t>Keep</a:t>
            </a:r>
            <a:r>
              <a:rPr sz="11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records</a:t>
            </a:r>
            <a:r>
              <a:rPr sz="11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110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communications,</a:t>
            </a:r>
            <a:r>
              <a:rPr sz="11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decisions,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technical data.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0928" y="2945384"/>
            <a:ext cx="1600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272424"/>
                </a:solidFill>
                <a:latin typeface="Calibri"/>
                <a:cs typeface="Calibri"/>
              </a:rPr>
              <a:t>05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42865" y="3183382"/>
            <a:ext cx="4004945" cy="19050"/>
          </a:xfrm>
          <a:custGeom>
            <a:avLst/>
            <a:gdLst/>
            <a:ahLst/>
            <a:cxnLst/>
            <a:rect l="l" t="t" r="r" b="b"/>
            <a:pathLst>
              <a:path w="4004945" h="19050">
                <a:moveTo>
                  <a:pt x="4004945" y="0"/>
                </a:moveTo>
                <a:lnTo>
                  <a:pt x="0" y="0"/>
                </a:lnTo>
                <a:lnTo>
                  <a:pt x="0" y="19050"/>
                </a:lnTo>
                <a:lnTo>
                  <a:pt x="4004945" y="19050"/>
                </a:lnTo>
                <a:lnTo>
                  <a:pt x="4004945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630928" y="3268471"/>
            <a:ext cx="3639185" cy="76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55" dirty="0">
                <a:solidFill>
                  <a:srgbClr val="272424"/>
                </a:solidFill>
                <a:latin typeface="Tahoma"/>
                <a:cs typeface="Tahoma"/>
              </a:rPr>
              <a:t>Escalate</a:t>
            </a:r>
            <a:r>
              <a:rPr sz="1350" b="1" spc="-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60" dirty="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sz="1350" b="1" spc="-1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Necessary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800"/>
              </a:lnSpc>
              <a:spcBef>
                <a:spcPts val="670"/>
              </a:spcBef>
            </a:pPr>
            <a:r>
              <a:rPr sz="1100" spc="-45" dirty="0">
                <a:solidFill>
                  <a:srgbClr val="272424"/>
                </a:solidFill>
                <a:latin typeface="Tahoma"/>
                <a:cs typeface="Tahoma"/>
              </a:rPr>
              <a:t>If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ignored,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escalate</a:t>
            </a:r>
            <a:r>
              <a:rPr sz="11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to higher</a:t>
            </a:r>
            <a:r>
              <a:rPr sz="11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r>
              <a:rPr sz="110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sz="11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appropriate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regulatory</a:t>
            </a:r>
            <a:r>
              <a:rPr sz="11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bodies.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85" dirty="0"/>
              <a:t>Benefits</a:t>
            </a:r>
            <a:r>
              <a:rPr sz="1850" spc="-155" dirty="0"/>
              <a:t> </a:t>
            </a:r>
            <a:r>
              <a:rPr sz="1850" spc="-30" dirty="0"/>
              <a:t>of</a:t>
            </a:r>
            <a:r>
              <a:rPr sz="1850" spc="-160" dirty="0"/>
              <a:t> </a:t>
            </a:r>
            <a:r>
              <a:rPr sz="1850" spc="-95" dirty="0"/>
              <a:t>Ethical</a:t>
            </a:r>
            <a:r>
              <a:rPr sz="1850" spc="-155" dirty="0"/>
              <a:t> </a:t>
            </a:r>
            <a:r>
              <a:rPr sz="1850" spc="-70" dirty="0"/>
              <a:t>Engineering</a:t>
            </a:r>
            <a:endParaRPr sz="18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213" y="1005897"/>
            <a:ext cx="282495" cy="2817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3514" y="1400302"/>
            <a:ext cx="2167890" cy="64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40" dirty="0">
                <a:solidFill>
                  <a:srgbClr val="272424"/>
                </a:solidFill>
                <a:latin typeface="Tahoma"/>
                <a:cs typeface="Tahoma"/>
              </a:rPr>
              <a:t>Safer</a:t>
            </a:r>
            <a:r>
              <a:rPr sz="1150" b="1" spc="-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50" b="1" spc="-45" dirty="0">
                <a:solidFill>
                  <a:srgbClr val="272424"/>
                </a:solidFill>
                <a:latin typeface="Tahoma"/>
                <a:cs typeface="Tahoma"/>
              </a:rPr>
              <a:t>Products</a:t>
            </a:r>
            <a:r>
              <a:rPr sz="1150" b="1" spc="-1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50" b="1" spc="180" dirty="0">
                <a:solidFill>
                  <a:srgbClr val="272424"/>
                </a:solidFill>
                <a:latin typeface="Tahoma"/>
                <a:cs typeface="Tahoma"/>
              </a:rPr>
              <a:t>s</a:t>
            </a:r>
            <a:r>
              <a:rPr sz="1150" b="1" spc="-9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50" b="1" spc="-35" dirty="0">
                <a:solidFill>
                  <a:srgbClr val="272424"/>
                </a:solidFill>
                <a:latin typeface="Tahoma"/>
                <a:cs typeface="Tahoma"/>
              </a:rPr>
              <a:t>Infrastructure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23300"/>
              </a:lnSpc>
              <a:spcBef>
                <a:spcPts val="805"/>
              </a:spcBef>
            </a:pP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Designs</a:t>
            </a:r>
            <a:r>
              <a:rPr sz="9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sz="90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protect</a:t>
            </a:r>
            <a:r>
              <a:rPr sz="9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people</a:t>
            </a:r>
            <a:r>
              <a:rPr sz="90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9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Tahoma"/>
                <a:cs typeface="Tahoma"/>
              </a:rPr>
              <a:t>minimize accidents.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312" y="2278480"/>
            <a:ext cx="282256" cy="271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3514" y="2668269"/>
            <a:ext cx="1990089" cy="64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65" dirty="0">
                <a:solidFill>
                  <a:srgbClr val="272424"/>
                </a:solidFill>
                <a:latin typeface="Tahoma"/>
                <a:cs typeface="Tahoma"/>
              </a:rPr>
              <a:t>Environmental</a:t>
            </a:r>
            <a:r>
              <a:rPr sz="1150" b="1" spc="-8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Tahoma"/>
                <a:cs typeface="Tahoma"/>
              </a:rPr>
              <a:t>Protection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23300"/>
              </a:lnSpc>
              <a:spcBef>
                <a:spcPts val="800"/>
              </a:spcBef>
            </a:pPr>
            <a:r>
              <a:rPr sz="900" spc="10" dirty="0">
                <a:solidFill>
                  <a:srgbClr val="272424"/>
                </a:solidFill>
                <a:latin typeface="Tahoma"/>
                <a:cs typeface="Tahoma"/>
              </a:rPr>
              <a:t>Sustainable</a:t>
            </a:r>
            <a:r>
              <a:rPr sz="900" spc="8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Tahoma"/>
                <a:cs typeface="Tahoma"/>
              </a:rPr>
              <a:t>choices</a:t>
            </a:r>
            <a:r>
              <a:rPr sz="9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Tahoma"/>
                <a:cs typeface="Tahoma"/>
              </a:rPr>
              <a:t>reduce</a:t>
            </a:r>
            <a:r>
              <a:rPr sz="90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72424"/>
                </a:solidFill>
                <a:latin typeface="Tahoma"/>
                <a:cs typeface="Tahoma"/>
              </a:rPr>
              <a:t>long-</a:t>
            </a:r>
            <a:r>
              <a:rPr sz="900" spc="-20" dirty="0">
                <a:solidFill>
                  <a:srgbClr val="272424"/>
                </a:solidFill>
                <a:latin typeface="Tahoma"/>
                <a:cs typeface="Tahoma"/>
              </a:rPr>
              <a:t>term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harm</a:t>
            </a:r>
            <a:r>
              <a:rPr sz="90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90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Tahoma"/>
                <a:cs typeface="Tahoma"/>
              </a:rPr>
              <a:t>costs.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403" y="3546396"/>
            <a:ext cx="282168" cy="27056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3514" y="3935984"/>
            <a:ext cx="2204085" cy="64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55" dirty="0">
                <a:solidFill>
                  <a:srgbClr val="272424"/>
                </a:solidFill>
                <a:latin typeface="Tahoma"/>
                <a:cs typeface="Tahoma"/>
              </a:rPr>
              <a:t>Stronger</a:t>
            </a:r>
            <a:r>
              <a:rPr sz="1150" b="1" spc="-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272424"/>
                </a:solidFill>
                <a:latin typeface="Tahoma"/>
                <a:cs typeface="Tahoma"/>
              </a:rPr>
              <a:t>Reputation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Ethical</a:t>
            </a:r>
            <a:r>
              <a:rPr sz="9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practice</a:t>
            </a:r>
            <a:r>
              <a:rPr sz="9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enhances</a:t>
            </a:r>
            <a:r>
              <a:rPr sz="900" spc="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trust</a:t>
            </a:r>
            <a:r>
              <a:rPr sz="9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9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Tahoma"/>
                <a:cs typeface="Tahoma"/>
              </a:rPr>
              <a:t>career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900" spc="-10" dirty="0">
                <a:solidFill>
                  <a:srgbClr val="272424"/>
                </a:solidFill>
                <a:latin typeface="Tahoma"/>
                <a:cs typeface="Tahoma"/>
              </a:rPr>
              <a:t>prospects.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5929" y="973963"/>
            <a:ext cx="890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Other</a:t>
            </a:r>
            <a:r>
              <a:rPr sz="90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Tahoma"/>
                <a:cs typeface="Tahoma"/>
              </a:rPr>
              <a:t>outcomes: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5929" y="1256538"/>
            <a:ext cx="2177415" cy="1039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080" indent="-182880">
              <a:lnSpc>
                <a:spcPct val="123500"/>
              </a:lnSpc>
              <a:spcBef>
                <a:spcPts val="100"/>
              </a:spcBef>
              <a:buChar char="•"/>
              <a:tabLst>
                <a:tab pos="195580" algn="l"/>
                <a:tab pos="197485" algn="l"/>
              </a:tabLst>
            </a:pP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	Improved</a:t>
            </a:r>
            <a:r>
              <a:rPr sz="90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workplace</a:t>
            </a:r>
            <a:r>
              <a:rPr sz="900" spc="7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relationships</a:t>
            </a:r>
            <a:r>
              <a:rPr sz="900" spc="8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sz="900" spc="-10" dirty="0">
                <a:solidFill>
                  <a:srgbClr val="272424"/>
                </a:solidFill>
                <a:latin typeface="Tahoma"/>
                <a:cs typeface="Tahoma"/>
              </a:rPr>
              <a:t>morale</a:t>
            </a:r>
            <a:endParaRPr sz="900">
              <a:latin typeface="Tahoma"/>
              <a:cs typeface="Tahoma"/>
            </a:endParaRPr>
          </a:p>
          <a:p>
            <a:pPr marL="195580" marR="191770" indent="-182880">
              <a:lnSpc>
                <a:spcPts val="1330"/>
              </a:lnSpc>
              <a:spcBef>
                <a:spcPts val="75"/>
              </a:spcBef>
              <a:buChar char="•"/>
              <a:tabLst>
                <a:tab pos="195580" algn="l"/>
                <a:tab pos="197485" algn="l"/>
              </a:tabLst>
            </a:pP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	Fewer</a:t>
            </a:r>
            <a:r>
              <a:rPr sz="90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accidents,</a:t>
            </a:r>
            <a:r>
              <a:rPr sz="900" spc="7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recalls,</a:t>
            </a:r>
            <a:r>
              <a:rPr sz="90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9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72424"/>
                </a:solidFill>
                <a:latin typeface="Tahoma"/>
                <a:cs typeface="Tahoma"/>
              </a:rPr>
              <a:t>legal </a:t>
            </a:r>
            <a:r>
              <a:rPr sz="900" spc="-10" dirty="0">
                <a:solidFill>
                  <a:srgbClr val="272424"/>
                </a:solidFill>
                <a:latin typeface="Tahoma"/>
                <a:cs typeface="Tahoma"/>
              </a:rPr>
              <a:t>issues</a:t>
            </a:r>
            <a:endParaRPr sz="900">
              <a:latin typeface="Tahoma"/>
              <a:cs typeface="Tahoma"/>
            </a:endParaRPr>
          </a:p>
          <a:p>
            <a:pPr marL="195580" marR="63500" indent="-182880">
              <a:lnSpc>
                <a:spcPts val="1330"/>
              </a:lnSpc>
              <a:spcBef>
                <a:spcPts val="5"/>
              </a:spcBef>
              <a:buChar char="•"/>
              <a:tabLst>
                <a:tab pos="195580" algn="l"/>
                <a:tab pos="197485" algn="l"/>
              </a:tabLst>
            </a:pP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	Support</a:t>
            </a:r>
            <a:r>
              <a:rPr sz="9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sz="9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72424"/>
                </a:solidFill>
                <a:latin typeface="Tahoma"/>
                <a:cs typeface="Tahoma"/>
              </a:rPr>
              <a:t>sustainable</a:t>
            </a:r>
            <a:r>
              <a:rPr sz="90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72424"/>
                </a:solidFill>
                <a:latin typeface="Tahoma"/>
                <a:cs typeface="Tahoma"/>
              </a:rPr>
              <a:t>development goals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-1"/>
            <a:ext cx="3429000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0" dirty="0"/>
              <a:t>Summary</a:t>
            </a:r>
            <a:r>
              <a:rPr spc="-160" dirty="0"/>
              <a:t> </a:t>
            </a:r>
            <a:r>
              <a:rPr spc="180" dirty="0"/>
              <a:t>—</a:t>
            </a:r>
            <a:r>
              <a:rPr spc="-240" dirty="0"/>
              <a:t> </a:t>
            </a:r>
            <a:r>
              <a:rPr spc="-35" dirty="0"/>
              <a:t>Key</a:t>
            </a:r>
            <a:r>
              <a:rPr spc="-204" dirty="0"/>
              <a:t> </a:t>
            </a:r>
            <a:r>
              <a:rPr spc="-55" dirty="0"/>
              <a:t>Takeaways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3731" y="1036732"/>
            <a:ext cx="323850" cy="323850"/>
            <a:chOff x="493731" y="1036732"/>
            <a:chExt cx="323850" cy="323850"/>
          </a:xfrm>
        </p:grpSpPr>
        <p:sp>
          <p:nvSpPr>
            <p:cNvPr id="5" name="object 5"/>
            <p:cNvSpPr/>
            <p:nvPr/>
          </p:nvSpPr>
          <p:spPr>
            <a:xfrm>
              <a:off x="496112" y="1039113"/>
              <a:ext cx="319405" cy="319405"/>
            </a:xfrm>
            <a:custGeom>
              <a:avLst/>
              <a:gdLst/>
              <a:ahLst/>
              <a:cxnLst/>
              <a:rect l="l" t="t" r="r" b="b"/>
              <a:pathLst>
                <a:path w="319405" h="319405">
                  <a:moveTo>
                    <a:pt x="259397" y="0"/>
                  </a:moveTo>
                  <a:lnTo>
                    <a:pt x="59550" y="0"/>
                  </a:lnTo>
                  <a:lnTo>
                    <a:pt x="36374" y="4681"/>
                  </a:lnTo>
                  <a:lnTo>
                    <a:pt x="17445" y="17446"/>
                  </a:lnTo>
                  <a:lnTo>
                    <a:pt x="4680" y="36379"/>
                  </a:lnTo>
                  <a:lnTo>
                    <a:pt x="0" y="59562"/>
                  </a:lnTo>
                  <a:lnTo>
                    <a:pt x="0" y="259461"/>
                  </a:lnTo>
                  <a:lnTo>
                    <a:pt x="4680" y="282571"/>
                  </a:lnTo>
                  <a:lnTo>
                    <a:pt x="17445" y="301466"/>
                  </a:lnTo>
                  <a:lnTo>
                    <a:pt x="36374" y="314217"/>
                  </a:lnTo>
                  <a:lnTo>
                    <a:pt x="59550" y="318897"/>
                  </a:lnTo>
                  <a:lnTo>
                    <a:pt x="259397" y="318897"/>
                  </a:lnTo>
                  <a:lnTo>
                    <a:pt x="282578" y="314217"/>
                  </a:lnTo>
                  <a:lnTo>
                    <a:pt x="301507" y="301466"/>
                  </a:lnTo>
                  <a:lnTo>
                    <a:pt x="314268" y="282571"/>
                  </a:lnTo>
                  <a:lnTo>
                    <a:pt x="318947" y="259461"/>
                  </a:lnTo>
                  <a:lnTo>
                    <a:pt x="318947" y="59562"/>
                  </a:lnTo>
                  <a:lnTo>
                    <a:pt x="314268" y="36379"/>
                  </a:lnTo>
                  <a:lnTo>
                    <a:pt x="301507" y="17446"/>
                  </a:lnTo>
                  <a:lnTo>
                    <a:pt x="282578" y="4681"/>
                  </a:lnTo>
                  <a:lnTo>
                    <a:pt x="25939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112" y="1039113"/>
              <a:ext cx="319405" cy="319405"/>
            </a:xfrm>
            <a:custGeom>
              <a:avLst/>
              <a:gdLst/>
              <a:ahLst/>
              <a:cxnLst/>
              <a:rect l="l" t="t" r="r" b="b"/>
              <a:pathLst>
                <a:path w="319405" h="319405">
                  <a:moveTo>
                    <a:pt x="0" y="59562"/>
                  </a:moveTo>
                  <a:lnTo>
                    <a:pt x="4680" y="36379"/>
                  </a:lnTo>
                  <a:lnTo>
                    <a:pt x="17445" y="17446"/>
                  </a:lnTo>
                  <a:lnTo>
                    <a:pt x="36374" y="4681"/>
                  </a:lnTo>
                  <a:lnTo>
                    <a:pt x="59550" y="0"/>
                  </a:lnTo>
                  <a:lnTo>
                    <a:pt x="259397" y="0"/>
                  </a:lnTo>
                  <a:lnTo>
                    <a:pt x="282578" y="4681"/>
                  </a:lnTo>
                  <a:lnTo>
                    <a:pt x="301507" y="17446"/>
                  </a:lnTo>
                  <a:lnTo>
                    <a:pt x="314268" y="36379"/>
                  </a:lnTo>
                  <a:lnTo>
                    <a:pt x="318947" y="59562"/>
                  </a:lnTo>
                  <a:lnTo>
                    <a:pt x="318947" y="259461"/>
                  </a:lnTo>
                  <a:lnTo>
                    <a:pt x="314268" y="282571"/>
                  </a:lnTo>
                  <a:lnTo>
                    <a:pt x="301507" y="301466"/>
                  </a:lnTo>
                  <a:lnTo>
                    <a:pt x="282578" y="314217"/>
                  </a:lnTo>
                  <a:lnTo>
                    <a:pt x="259397" y="318897"/>
                  </a:lnTo>
                  <a:lnTo>
                    <a:pt x="59550" y="318897"/>
                  </a:lnTo>
                  <a:lnTo>
                    <a:pt x="36374" y="314217"/>
                  </a:lnTo>
                  <a:lnTo>
                    <a:pt x="17445" y="301466"/>
                  </a:lnTo>
                  <a:lnTo>
                    <a:pt x="4680" y="282571"/>
                  </a:lnTo>
                  <a:lnTo>
                    <a:pt x="0" y="259461"/>
                  </a:lnTo>
                  <a:lnTo>
                    <a:pt x="0" y="59562"/>
                  </a:lnTo>
                  <a:close/>
                </a:path>
              </a:pathLst>
            </a:custGeom>
            <a:ln w="4763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732" y="1107682"/>
              <a:ext cx="199139" cy="18290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44372" y="1063244"/>
            <a:ext cx="3877945" cy="3587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50" dirty="0">
                <a:solidFill>
                  <a:srgbClr val="272424"/>
                </a:solidFill>
                <a:latin typeface="Tahoma"/>
                <a:cs typeface="Tahoma"/>
              </a:rPr>
              <a:t>Ethics</a:t>
            </a:r>
            <a:r>
              <a:rPr sz="1350" b="1" spc="-114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40" dirty="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sz="1350" b="1" spc="-1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Central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Ethical</a:t>
            </a:r>
            <a:r>
              <a:rPr sz="110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reasoning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sz="11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integral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10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every</a:t>
            </a:r>
            <a:r>
              <a:rPr sz="11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engineering</a:t>
            </a:r>
            <a:r>
              <a:rPr sz="11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decision.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350" b="1" spc="-50" dirty="0">
                <a:solidFill>
                  <a:srgbClr val="272424"/>
                </a:solidFill>
                <a:latin typeface="Tahoma"/>
                <a:cs typeface="Tahoma"/>
              </a:rPr>
              <a:t>Safety</a:t>
            </a:r>
            <a:r>
              <a:rPr sz="1350" b="1" spc="-8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First</a:t>
            </a:r>
            <a:endParaRPr sz="1350">
              <a:latin typeface="Tahoma"/>
              <a:cs typeface="Tahoma"/>
            </a:endParaRPr>
          </a:p>
          <a:p>
            <a:pPr marL="12700" marR="50800">
              <a:lnSpc>
                <a:spcPct val="133000"/>
              </a:lnSpc>
              <a:spcBef>
                <a:spcPts val="670"/>
              </a:spcBef>
            </a:pP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Prioritize</a:t>
            </a:r>
            <a:r>
              <a:rPr sz="11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human</a:t>
            </a:r>
            <a:r>
              <a:rPr sz="110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life</a:t>
            </a:r>
            <a:r>
              <a:rPr sz="1100" spc="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public</a:t>
            </a:r>
            <a:r>
              <a:rPr sz="1100" spc="9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welfare</a:t>
            </a:r>
            <a:r>
              <a:rPr sz="11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above</a:t>
            </a:r>
            <a:r>
              <a:rPr sz="11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72424"/>
                </a:solidFill>
                <a:latin typeface="Tahoma"/>
                <a:cs typeface="Tahoma"/>
              </a:rPr>
              <a:t>deadlines</a:t>
            </a:r>
            <a:r>
              <a:rPr sz="11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profits.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b="1" spc="-50" dirty="0">
                <a:solidFill>
                  <a:srgbClr val="272424"/>
                </a:solidFill>
                <a:latin typeface="Tahoma"/>
                <a:cs typeface="Tahoma"/>
              </a:rPr>
              <a:t>Be</a:t>
            </a:r>
            <a:r>
              <a:rPr sz="1350" b="1" spc="-1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Accountable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Document,</a:t>
            </a:r>
            <a:r>
              <a:rPr sz="11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consult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standards,</a:t>
            </a:r>
            <a:r>
              <a:rPr sz="11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escalate</a:t>
            </a:r>
            <a:r>
              <a:rPr sz="110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necessary.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350" b="1" spc="-65" dirty="0">
                <a:solidFill>
                  <a:srgbClr val="272424"/>
                </a:solidFill>
                <a:latin typeface="Tahoma"/>
                <a:cs typeface="Tahoma"/>
              </a:rPr>
              <a:t>Continuous</a:t>
            </a:r>
            <a:r>
              <a:rPr sz="1350" b="1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72424"/>
                </a:solidFill>
                <a:latin typeface="Tahoma"/>
                <a:cs typeface="Tahoma"/>
              </a:rPr>
              <a:t>Learning</a:t>
            </a:r>
            <a:endParaRPr sz="1350">
              <a:latin typeface="Tahoma"/>
              <a:cs typeface="Tahoma"/>
            </a:endParaRPr>
          </a:p>
          <a:p>
            <a:pPr marL="12700" marR="263525">
              <a:lnSpc>
                <a:spcPct val="132700"/>
              </a:lnSpc>
              <a:spcBef>
                <a:spcPts val="675"/>
              </a:spcBef>
            </a:pP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Maintain</a:t>
            </a:r>
            <a:r>
              <a:rPr sz="110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competence</a:t>
            </a:r>
            <a:r>
              <a:rPr sz="110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keep</a:t>
            </a:r>
            <a:r>
              <a:rPr sz="110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272424"/>
                </a:solidFill>
                <a:latin typeface="Tahoma"/>
                <a:cs typeface="Tahoma"/>
              </a:rPr>
              <a:t>up-to-date</a:t>
            </a:r>
            <a:r>
              <a:rPr sz="11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sz="11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evolving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technologies</a:t>
            </a:r>
            <a:r>
              <a:rPr sz="11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1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72424"/>
                </a:solidFill>
                <a:latin typeface="Tahoma"/>
                <a:cs typeface="Tahoma"/>
              </a:rPr>
              <a:t>rules.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93731" y="1902237"/>
            <a:ext cx="323850" cy="323850"/>
            <a:chOff x="493731" y="1902237"/>
            <a:chExt cx="323850" cy="323850"/>
          </a:xfrm>
        </p:grpSpPr>
        <p:sp>
          <p:nvSpPr>
            <p:cNvPr id="10" name="object 10"/>
            <p:cNvSpPr/>
            <p:nvPr/>
          </p:nvSpPr>
          <p:spPr>
            <a:xfrm>
              <a:off x="496112" y="1904619"/>
              <a:ext cx="319405" cy="319405"/>
            </a:xfrm>
            <a:custGeom>
              <a:avLst/>
              <a:gdLst/>
              <a:ahLst/>
              <a:cxnLst/>
              <a:rect l="l" t="t" r="r" b="b"/>
              <a:pathLst>
                <a:path w="319405" h="319405">
                  <a:moveTo>
                    <a:pt x="259397" y="0"/>
                  </a:moveTo>
                  <a:lnTo>
                    <a:pt x="59550" y="0"/>
                  </a:lnTo>
                  <a:lnTo>
                    <a:pt x="36374" y="4681"/>
                  </a:lnTo>
                  <a:lnTo>
                    <a:pt x="17445" y="17446"/>
                  </a:lnTo>
                  <a:lnTo>
                    <a:pt x="4680" y="36379"/>
                  </a:lnTo>
                  <a:lnTo>
                    <a:pt x="0" y="59562"/>
                  </a:lnTo>
                  <a:lnTo>
                    <a:pt x="0" y="259461"/>
                  </a:lnTo>
                  <a:lnTo>
                    <a:pt x="4680" y="282571"/>
                  </a:lnTo>
                  <a:lnTo>
                    <a:pt x="17445" y="301466"/>
                  </a:lnTo>
                  <a:lnTo>
                    <a:pt x="36374" y="314217"/>
                  </a:lnTo>
                  <a:lnTo>
                    <a:pt x="59550" y="318897"/>
                  </a:lnTo>
                  <a:lnTo>
                    <a:pt x="259397" y="318897"/>
                  </a:lnTo>
                  <a:lnTo>
                    <a:pt x="282578" y="314217"/>
                  </a:lnTo>
                  <a:lnTo>
                    <a:pt x="301507" y="301466"/>
                  </a:lnTo>
                  <a:lnTo>
                    <a:pt x="314268" y="282571"/>
                  </a:lnTo>
                  <a:lnTo>
                    <a:pt x="318947" y="259461"/>
                  </a:lnTo>
                  <a:lnTo>
                    <a:pt x="318947" y="59562"/>
                  </a:lnTo>
                  <a:lnTo>
                    <a:pt x="314268" y="36379"/>
                  </a:lnTo>
                  <a:lnTo>
                    <a:pt x="301507" y="17446"/>
                  </a:lnTo>
                  <a:lnTo>
                    <a:pt x="282578" y="4681"/>
                  </a:lnTo>
                  <a:lnTo>
                    <a:pt x="25939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6112" y="1904619"/>
              <a:ext cx="319405" cy="319405"/>
            </a:xfrm>
            <a:custGeom>
              <a:avLst/>
              <a:gdLst/>
              <a:ahLst/>
              <a:cxnLst/>
              <a:rect l="l" t="t" r="r" b="b"/>
              <a:pathLst>
                <a:path w="319405" h="319405">
                  <a:moveTo>
                    <a:pt x="0" y="59562"/>
                  </a:moveTo>
                  <a:lnTo>
                    <a:pt x="4680" y="36379"/>
                  </a:lnTo>
                  <a:lnTo>
                    <a:pt x="17445" y="17446"/>
                  </a:lnTo>
                  <a:lnTo>
                    <a:pt x="36374" y="4681"/>
                  </a:lnTo>
                  <a:lnTo>
                    <a:pt x="59550" y="0"/>
                  </a:lnTo>
                  <a:lnTo>
                    <a:pt x="259397" y="0"/>
                  </a:lnTo>
                  <a:lnTo>
                    <a:pt x="282578" y="4681"/>
                  </a:lnTo>
                  <a:lnTo>
                    <a:pt x="301507" y="17446"/>
                  </a:lnTo>
                  <a:lnTo>
                    <a:pt x="314268" y="36379"/>
                  </a:lnTo>
                  <a:lnTo>
                    <a:pt x="318947" y="59562"/>
                  </a:lnTo>
                  <a:lnTo>
                    <a:pt x="318947" y="259461"/>
                  </a:lnTo>
                  <a:lnTo>
                    <a:pt x="314268" y="282571"/>
                  </a:lnTo>
                  <a:lnTo>
                    <a:pt x="301507" y="301466"/>
                  </a:lnTo>
                  <a:lnTo>
                    <a:pt x="282578" y="314217"/>
                  </a:lnTo>
                  <a:lnTo>
                    <a:pt x="259397" y="318897"/>
                  </a:lnTo>
                  <a:lnTo>
                    <a:pt x="59550" y="318897"/>
                  </a:lnTo>
                  <a:lnTo>
                    <a:pt x="36374" y="314217"/>
                  </a:lnTo>
                  <a:lnTo>
                    <a:pt x="17445" y="301466"/>
                  </a:lnTo>
                  <a:lnTo>
                    <a:pt x="4680" y="282571"/>
                  </a:lnTo>
                  <a:lnTo>
                    <a:pt x="0" y="259461"/>
                  </a:lnTo>
                  <a:lnTo>
                    <a:pt x="0" y="59562"/>
                  </a:lnTo>
                  <a:close/>
                </a:path>
              </a:pathLst>
            </a:custGeom>
            <a:ln w="4763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772" y="1965149"/>
              <a:ext cx="199204" cy="198841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93731" y="2994564"/>
            <a:ext cx="323850" cy="323850"/>
            <a:chOff x="493731" y="2994564"/>
            <a:chExt cx="323850" cy="323850"/>
          </a:xfrm>
        </p:grpSpPr>
        <p:sp>
          <p:nvSpPr>
            <p:cNvPr id="14" name="object 14"/>
            <p:cNvSpPr/>
            <p:nvPr/>
          </p:nvSpPr>
          <p:spPr>
            <a:xfrm>
              <a:off x="496112" y="2996946"/>
              <a:ext cx="319405" cy="319405"/>
            </a:xfrm>
            <a:custGeom>
              <a:avLst/>
              <a:gdLst/>
              <a:ahLst/>
              <a:cxnLst/>
              <a:rect l="l" t="t" r="r" b="b"/>
              <a:pathLst>
                <a:path w="319405" h="319404">
                  <a:moveTo>
                    <a:pt x="259397" y="0"/>
                  </a:moveTo>
                  <a:lnTo>
                    <a:pt x="59550" y="0"/>
                  </a:lnTo>
                  <a:lnTo>
                    <a:pt x="36374" y="4681"/>
                  </a:lnTo>
                  <a:lnTo>
                    <a:pt x="17445" y="17446"/>
                  </a:lnTo>
                  <a:lnTo>
                    <a:pt x="4680" y="36379"/>
                  </a:lnTo>
                  <a:lnTo>
                    <a:pt x="0" y="59562"/>
                  </a:lnTo>
                  <a:lnTo>
                    <a:pt x="0" y="259461"/>
                  </a:lnTo>
                  <a:lnTo>
                    <a:pt x="4680" y="282571"/>
                  </a:lnTo>
                  <a:lnTo>
                    <a:pt x="17445" y="301466"/>
                  </a:lnTo>
                  <a:lnTo>
                    <a:pt x="36374" y="314217"/>
                  </a:lnTo>
                  <a:lnTo>
                    <a:pt x="59550" y="318897"/>
                  </a:lnTo>
                  <a:lnTo>
                    <a:pt x="259397" y="318897"/>
                  </a:lnTo>
                  <a:lnTo>
                    <a:pt x="282578" y="314217"/>
                  </a:lnTo>
                  <a:lnTo>
                    <a:pt x="301507" y="301466"/>
                  </a:lnTo>
                  <a:lnTo>
                    <a:pt x="314268" y="282571"/>
                  </a:lnTo>
                  <a:lnTo>
                    <a:pt x="318947" y="259461"/>
                  </a:lnTo>
                  <a:lnTo>
                    <a:pt x="318947" y="59562"/>
                  </a:lnTo>
                  <a:lnTo>
                    <a:pt x="314268" y="36379"/>
                  </a:lnTo>
                  <a:lnTo>
                    <a:pt x="301507" y="17446"/>
                  </a:lnTo>
                  <a:lnTo>
                    <a:pt x="282578" y="4681"/>
                  </a:lnTo>
                  <a:lnTo>
                    <a:pt x="25939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6112" y="2996946"/>
              <a:ext cx="319405" cy="319405"/>
            </a:xfrm>
            <a:custGeom>
              <a:avLst/>
              <a:gdLst/>
              <a:ahLst/>
              <a:cxnLst/>
              <a:rect l="l" t="t" r="r" b="b"/>
              <a:pathLst>
                <a:path w="319405" h="319404">
                  <a:moveTo>
                    <a:pt x="0" y="59562"/>
                  </a:moveTo>
                  <a:lnTo>
                    <a:pt x="4680" y="36379"/>
                  </a:lnTo>
                  <a:lnTo>
                    <a:pt x="17445" y="17446"/>
                  </a:lnTo>
                  <a:lnTo>
                    <a:pt x="36374" y="4681"/>
                  </a:lnTo>
                  <a:lnTo>
                    <a:pt x="59550" y="0"/>
                  </a:lnTo>
                  <a:lnTo>
                    <a:pt x="259397" y="0"/>
                  </a:lnTo>
                  <a:lnTo>
                    <a:pt x="282578" y="4681"/>
                  </a:lnTo>
                  <a:lnTo>
                    <a:pt x="301507" y="17446"/>
                  </a:lnTo>
                  <a:lnTo>
                    <a:pt x="314268" y="36379"/>
                  </a:lnTo>
                  <a:lnTo>
                    <a:pt x="318947" y="59562"/>
                  </a:lnTo>
                  <a:lnTo>
                    <a:pt x="318947" y="259461"/>
                  </a:lnTo>
                  <a:lnTo>
                    <a:pt x="314268" y="282571"/>
                  </a:lnTo>
                  <a:lnTo>
                    <a:pt x="301507" y="301466"/>
                  </a:lnTo>
                  <a:lnTo>
                    <a:pt x="282578" y="314217"/>
                  </a:lnTo>
                  <a:lnTo>
                    <a:pt x="259397" y="318897"/>
                  </a:lnTo>
                  <a:lnTo>
                    <a:pt x="59550" y="318897"/>
                  </a:lnTo>
                  <a:lnTo>
                    <a:pt x="36374" y="314217"/>
                  </a:lnTo>
                  <a:lnTo>
                    <a:pt x="17445" y="301466"/>
                  </a:lnTo>
                  <a:lnTo>
                    <a:pt x="4680" y="282571"/>
                  </a:lnTo>
                  <a:lnTo>
                    <a:pt x="0" y="259461"/>
                  </a:lnTo>
                  <a:lnTo>
                    <a:pt x="0" y="59562"/>
                  </a:lnTo>
                  <a:close/>
                </a:path>
              </a:pathLst>
            </a:custGeom>
            <a:ln w="4763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6778" y="3058704"/>
              <a:ext cx="199090" cy="196282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93731" y="3860069"/>
            <a:ext cx="323850" cy="323850"/>
            <a:chOff x="493731" y="3860069"/>
            <a:chExt cx="323850" cy="323850"/>
          </a:xfrm>
        </p:grpSpPr>
        <p:sp>
          <p:nvSpPr>
            <p:cNvPr id="18" name="object 18"/>
            <p:cNvSpPr/>
            <p:nvPr/>
          </p:nvSpPr>
          <p:spPr>
            <a:xfrm>
              <a:off x="496112" y="3862450"/>
              <a:ext cx="319405" cy="319405"/>
            </a:xfrm>
            <a:custGeom>
              <a:avLst/>
              <a:gdLst/>
              <a:ahLst/>
              <a:cxnLst/>
              <a:rect l="l" t="t" r="r" b="b"/>
              <a:pathLst>
                <a:path w="319405" h="319404">
                  <a:moveTo>
                    <a:pt x="259397" y="0"/>
                  </a:moveTo>
                  <a:lnTo>
                    <a:pt x="59550" y="0"/>
                  </a:lnTo>
                  <a:lnTo>
                    <a:pt x="36374" y="4680"/>
                  </a:lnTo>
                  <a:lnTo>
                    <a:pt x="17445" y="17445"/>
                  </a:lnTo>
                  <a:lnTo>
                    <a:pt x="4680" y="36374"/>
                  </a:lnTo>
                  <a:lnTo>
                    <a:pt x="0" y="59550"/>
                  </a:lnTo>
                  <a:lnTo>
                    <a:pt x="0" y="259410"/>
                  </a:lnTo>
                  <a:lnTo>
                    <a:pt x="4680" y="282584"/>
                  </a:lnTo>
                  <a:lnTo>
                    <a:pt x="17445" y="301509"/>
                  </a:lnTo>
                  <a:lnTo>
                    <a:pt x="36374" y="314268"/>
                  </a:lnTo>
                  <a:lnTo>
                    <a:pt x="59550" y="318947"/>
                  </a:lnTo>
                  <a:lnTo>
                    <a:pt x="259397" y="318947"/>
                  </a:lnTo>
                  <a:lnTo>
                    <a:pt x="282578" y="314268"/>
                  </a:lnTo>
                  <a:lnTo>
                    <a:pt x="301507" y="301509"/>
                  </a:lnTo>
                  <a:lnTo>
                    <a:pt x="314268" y="282584"/>
                  </a:lnTo>
                  <a:lnTo>
                    <a:pt x="318947" y="259410"/>
                  </a:lnTo>
                  <a:lnTo>
                    <a:pt x="318947" y="59550"/>
                  </a:lnTo>
                  <a:lnTo>
                    <a:pt x="314268" y="36374"/>
                  </a:lnTo>
                  <a:lnTo>
                    <a:pt x="301507" y="17445"/>
                  </a:lnTo>
                  <a:lnTo>
                    <a:pt x="282578" y="4680"/>
                  </a:lnTo>
                  <a:lnTo>
                    <a:pt x="259397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6112" y="3862450"/>
              <a:ext cx="319405" cy="319405"/>
            </a:xfrm>
            <a:custGeom>
              <a:avLst/>
              <a:gdLst/>
              <a:ahLst/>
              <a:cxnLst/>
              <a:rect l="l" t="t" r="r" b="b"/>
              <a:pathLst>
                <a:path w="319405" h="319404">
                  <a:moveTo>
                    <a:pt x="0" y="59550"/>
                  </a:moveTo>
                  <a:lnTo>
                    <a:pt x="4680" y="36374"/>
                  </a:lnTo>
                  <a:lnTo>
                    <a:pt x="17445" y="17445"/>
                  </a:lnTo>
                  <a:lnTo>
                    <a:pt x="36374" y="4680"/>
                  </a:lnTo>
                  <a:lnTo>
                    <a:pt x="59550" y="0"/>
                  </a:lnTo>
                  <a:lnTo>
                    <a:pt x="259397" y="0"/>
                  </a:lnTo>
                  <a:lnTo>
                    <a:pt x="282578" y="4680"/>
                  </a:lnTo>
                  <a:lnTo>
                    <a:pt x="301507" y="17445"/>
                  </a:lnTo>
                  <a:lnTo>
                    <a:pt x="314268" y="36374"/>
                  </a:lnTo>
                  <a:lnTo>
                    <a:pt x="318947" y="59550"/>
                  </a:lnTo>
                  <a:lnTo>
                    <a:pt x="318947" y="259410"/>
                  </a:lnTo>
                  <a:lnTo>
                    <a:pt x="314268" y="282584"/>
                  </a:lnTo>
                  <a:lnTo>
                    <a:pt x="301507" y="301509"/>
                  </a:lnTo>
                  <a:lnTo>
                    <a:pt x="282578" y="314268"/>
                  </a:lnTo>
                  <a:lnTo>
                    <a:pt x="259397" y="318947"/>
                  </a:lnTo>
                  <a:lnTo>
                    <a:pt x="59550" y="318947"/>
                  </a:lnTo>
                  <a:lnTo>
                    <a:pt x="36374" y="314268"/>
                  </a:lnTo>
                  <a:lnTo>
                    <a:pt x="17445" y="301509"/>
                  </a:lnTo>
                  <a:lnTo>
                    <a:pt x="4680" y="282584"/>
                  </a:lnTo>
                  <a:lnTo>
                    <a:pt x="0" y="259410"/>
                  </a:lnTo>
                  <a:lnTo>
                    <a:pt x="0" y="59550"/>
                  </a:lnTo>
                  <a:close/>
                </a:path>
              </a:pathLst>
            </a:custGeom>
            <a:ln w="4763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752" y="3923045"/>
              <a:ext cx="199142" cy="1987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514" y="843229"/>
            <a:ext cx="14903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954" y="1276111"/>
            <a:ext cx="6885305" cy="1139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90"/>
              </a:spcBef>
            </a:pPr>
            <a:r>
              <a:rPr sz="1100" spc="20" dirty="0">
                <a:latin typeface="Tahoma"/>
                <a:cs typeface="Tahoma"/>
              </a:rPr>
              <a:t>Ultimately,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engineering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ethics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60" dirty="0">
                <a:latin typeface="Tahoma"/>
                <a:cs typeface="Tahoma"/>
              </a:rPr>
              <a:t>serves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as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moral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70" dirty="0">
                <a:latin typeface="Tahoma"/>
                <a:cs typeface="Tahoma"/>
              </a:rPr>
              <a:t>compass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that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guides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professionals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through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55" dirty="0">
                <a:latin typeface="Tahoma"/>
                <a:cs typeface="Tahoma"/>
              </a:rPr>
              <a:t>complex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intersection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of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technology,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business,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society.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It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demands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engineers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look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beyond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mere </a:t>
            </a:r>
            <a:r>
              <a:rPr sz="1100" spc="20" dirty="0">
                <a:latin typeface="Tahoma"/>
                <a:cs typeface="Tahoma"/>
              </a:rPr>
              <a:t>technical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feasibility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to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prioritize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the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safety,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health,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and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welfare </a:t>
            </a:r>
            <a:r>
              <a:rPr sz="1100" spc="50" dirty="0">
                <a:latin typeface="Tahoma"/>
                <a:cs typeface="Tahoma"/>
              </a:rPr>
              <a:t>of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the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public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above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all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else.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Maintaining </a:t>
            </a:r>
            <a:r>
              <a:rPr sz="1100" spc="30" dirty="0">
                <a:latin typeface="Tahoma"/>
                <a:cs typeface="Tahoma"/>
              </a:rPr>
              <a:t>unyielding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integrity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transparency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every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decision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ensures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innovations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built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on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solid </a:t>
            </a:r>
            <a:r>
              <a:rPr sz="1100" spc="10" dirty="0">
                <a:latin typeface="Tahoma"/>
                <a:cs typeface="Tahoma"/>
              </a:rPr>
              <a:t>foundation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of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public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trust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and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accountability.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73554" y="1921205"/>
            <a:ext cx="40201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10" dirty="0"/>
              <a:t>Thank</a:t>
            </a:r>
            <a:r>
              <a:rPr sz="5400" spc="-380" dirty="0"/>
              <a:t> </a:t>
            </a:r>
            <a:r>
              <a:rPr sz="5400" spc="-10" dirty="0"/>
              <a:t>You!!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651</Words>
  <Application>Microsoft Office PowerPoint</Application>
  <PresentationFormat>On-screen Show (16:9)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Tahoma</vt:lpstr>
      <vt:lpstr>Office Theme</vt:lpstr>
      <vt:lpstr>Engineering Ethics — Professional Life</vt:lpstr>
      <vt:lpstr>What Is Engineering Ethics?</vt:lpstr>
      <vt:lpstr>Why Engineering Ethics Matters</vt:lpstr>
      <vt:lpstr>Core Principles of Engineering Ethics</vt:lpstr>
      <vt:lpstr>Where Ethical Decisions Arise</vt:lpstr>
      <vt:lpstr>Case Study — Unsafe Bridge Design</vt:lpstr>
      <vt:lpstr>How to Act Ethically — Practical Steps</vt:lpstr>
      <vt:lpstr>Benefits of Ethical Engineering</vt:lpstr>
      <vt:lpstr>Summary — Key Takeaways</vt:lpstr>
      <vt:lpstr>Conclusion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shubham mohite</dc:creator>
  <cp:lastModifiedBy>jirankalgirahul@outlook.com</cp:lastModifiedBy>
  <cp:revision>1</cp:revision>
  <dcterms:created xsi:type="dcterms:W3CDTF">2026-09-10T14:32:51Z</dcterms:created>
  <dcterms:modified xsi:type="dcterms:W3CDTF">2026-09-10T15:01:00Z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2026-08-15T00:00:00Z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2026-09-10T00:00:00Z</vt:filetime>
  </property>
  <property fmtid="{D5CDD505-2E9C-101B-9397-08002B2CF9AE}" pid="6" name="Producer">
    <vt:lpwstr>Microsoft® PowerPoint® 2021</vt:lpwstr>
  </property>
</Properties>
</file>